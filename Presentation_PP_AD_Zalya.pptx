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70" r:id="rId13"/>
    <p:sldId id="271" r:id="rId14"/>
    <p:sldId id="265" r:id="rId15"/>
    <p:sldId id="266" r:id="rId16"/>
    <p:sldId id="267" r:id="rId17"/>
  </p:sldIdLst>
  <p:sldSz cx="9144000" cy="5143500" type="screen16x9"/>
  <p:notesSz cx="51435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8090"/>
    <a:srgbClr val="0C1D2D"/>
    <a:srgbClr val="575456"/>
    <a:srgbClr val="0D1B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3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déplacer la diapo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modifier le format des notes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54EDCFE-A312-4355-A87D-EF8CDD40CEC9}" type="slidenum"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‹N°›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43C53A-85CB-4744-BCDD-6A4BFA9483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BCF72E-794E-4F49-B27D-CCC5C59036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72DEA7-6A6E-482D-A464-0A66B17DDE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BE2100-6065-4B76-A5D0-C642EA568E4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0E8756-C55A-4C95-9BFE-A38151CCA3F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F2B01E-F5C0-4B6C-9D56-E048B4C390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4D1B69-C350-445D-BE97-635F87D71B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26C0BF-1404-49D7-934B-950216AE075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C62C95-42D4-49F8-9E47-14CE9E07E87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F72AA-451B-AF26-9AB9-6242FF3FD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>
            <a:extLst>
              <a:ext uri="{FF2B5EF4-FFF2-40B4-BE49-F238E27FC236}">
                <a16:creationId xmlns:a16="http://schemas.microsoft.com/office/drawing/2014/main" id="{C90A6F09-1553-9484-6FCF-C32732BBE8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06" name="PlaceHolder 2">
            <a:extLst>
              <a:ext uri="{FF2B5EF4-FFF2-40B4-BE49-F238E27FC236}">
                <a16:creationId xmlns:a16="http://schemas.microsoft.com/office/drawing/2014/main" id="{1D4290CC-7F6C-0FF7-007D-3FB729ACD15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3">
            <a:extLst>
              <a:ext uri="{FF2B5EF4-FFF2-40B4-BE49-F238E27FC236}">
                <a16:creationId xmlns:a16="http://schemas.microsoft.com/office/drawing/2014/main" id="{79DB669B-4135-3E43-6210-FEF6F43F06E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C62C95-42D4-49F8-9E47-14CE9E07E87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554192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38616-F696-48FF-6B00-0E9359A0C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>
            <a:extLst>
              <a:ext uri="{FF2B5EF4-FFF2-40B4-BE49-F238E27FC236}">
                <a16:creationId xmlns:a16="http://schemas.microsoft.com/office/drawing/2014/main" id="{5106892C-C69D-BFA0-2EE3-9378F595F2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06" name="PlaceHolder 2">
            <a:extLst>
              <a:ext uri="{FF2B5EF4-FFF2-40B4-BE49-F238E27FC236}">
                <a16:creationId xmlns:a16="http://schemas.microsoft.com/office/drawing/2014/main" id="{AEEA78BF-01F2-D184-594A-B1298A8D706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3">
            <a:extLst>
              <a:ext uri="{FF2B5EF4-FFF2-40B4-BE49-F238E27FC236}">
                <a16:creationId xmlns:a16="http://schemas.microsoft.com/office/drawing/2014/main" id="{C63188D1-754E-E494-BD4C-EA02D22470A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C62C95-42D4-49F8-9E47-14CE9E07E87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988912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72B51-7E2F-8B05-8461-5C29EF060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>
            <a:extLst>
              <a:ext uri="{FF2B5EF4-FFF2-40B4-BE49-F238E27FC236}">
                <a16:creationId xmlns:a16="http://schemas.microsoft.com/office/drawing/2014/main" id="{56BBB48A-63F5-BBDA-F88E-7BD8E33F1B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06" name="PlaceHolder 2">
            <a:extLst>
              <a:ext uri="{FF2B5EF4-FFF2-40B4-BE49-F238E27FC236}">
                <a16:creationId xmlns:a16="http://schemas.microsoft.com/office/drawing/2014/main" id="{384912D7-6E8C-0D7C-233E-C06ECF5B80F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3">
            <a:extLst>
              <a:ext uri="{FF2B5EF4-FFF2-40B4-BE49-F238E27FC236}">
                <a16:creationId xmlns:a16="http://schemas.microsoft.com/office/drawing/2014/main" id="{4B404F1B-567A-6733-5C13-21A2C03515E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C62C95-42D4-49F8-9E47-14CE9E07E87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843265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42A05-8623-A9D2-07EF-9B50D1E1B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>
            <a:extLst>
              <a:ext uri="{FF2B5EF4-FFF2-40B4-BE49-F238E27FC236}">
                <a16:creationId xmlns:a16="http://schemas.microsoft.com/office/drawing/2014/main" id="{A34B7AB6-50BA-0C43-E3F9-B6C9FB528C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06" name="PlaceHolder 2">
            <a:extLst>
              <a:ext uri="{FF2B5EF4-FFF2-40B4-BE49-F238E27FC236}">
                <a16:creationId xmlns:a16="http://schemas.microsoft.com/office/drawing/2014/main" id="{32DBD327-5F21-D88A-F5DA-39EA0FF34AA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3">
            <a:extLst>
              <a:ext uri="{FF2B5EF4-FFF2-40B4-BE49-F238E27FC236}">
                <a16:creationId xmlns:a16="http://schemas.microsoft.com/office/drawing/2014/main" id="{3E86A47F-870E-C921-ABD6-E77C07A927E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C62C95-42D4-49F8-9E47-14CE9E07E87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46207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FDA0C2-D0E6-483F-BB05-53F03FE01B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013204-B084-49A0-A7DD-63B4BEF0CDA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635306-DF63-4925-93D1-E422DADC4B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texte-titre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enfidrich/Optimisation-CA_zalya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456840" cy="5143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7132320" y="-1097280"/>
            <a:ext cx="3200040" cy="3200040"/>
          </a:xfrm>
          <a:solidFill>
            <a:srgbClr val="028090">
              <a:alpha val="18000"/>
            </a:srgbClr>
          </a:solidFill>
          <a:ln w="12700">
            <a:solidFill>
              <a:srgbClr val="028090">
                <a:alpha val="1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7772400" y="-457200"/>
            <a:ext cx="1828440" cy="1828440"/>
          </a:xfrm>
          <a:solidFill>
            <a:srgbClr val="02C39A">
              <a:alpha val="25000"/>
            </a:srgbClr>
          </a:solidFill>
          <a:ln w="12700">
            <a:solidFill>
              <a:srgbClr val="02C39A">
                <a:alpha val="2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653965" y="201780"/>
            <a:ext cx="4912902" cy="4336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0" i="1" u="none" strike="noStrike" noProof="0" dirty="0">
                <a:solidFill>
                  <a:srgbClr val="CBD5E0"/>
                </a:solidFill>
                <a:effectLst/>
                <a:uFillTx/>
                <a:latin typeface="Calibri"/>
              </a:rPr>
              <a:t>UNIVERSITÉ DENIS SASSOU N'GUESSO  |  Faculté des Sciences Appliquées</a:t>
            </a:r>
            <a:endParaRPr lang="fr-FR" sz="1200" b="0" i="1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640080" y="960120"/>
            <a:ext cx="80463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3000" b="1" u="none" strike="noStrike" noProof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28090"/>
                </a:highlight>
                <a:uFillTx/>
                <a:latin typeface="Calibri"/>
              </a:rPr>
              <a:t>Optimisation du Chiffre d'Affaires</a:t>
            </a:r>
            <a:endParaRPr lang="fr-FR" sz="3000" b="0" u="none" strike="noStrike" noProof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28090"/>
              </a:highlight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640080" y="1600200"/>
            <a:ext cx="80463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2400" b="0" u="none" strike="noStrike" noProof="0" dirty="0">
                <a:solidFill>
                  <a:srgbClr val="02C39A"/>
                </a:solidFill>
                <a:effectLst/>
                <a:uFillTx/>
                <a:latin typeface="Calibri"/>
              </a:rPr>
              <a:t>par analyse des ventes</a:t>
            </a:r>
            <a:endParaRPr lang="fr-FR" sz="24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640080" y="2286000"/>
            <a:ext cx="4114440" cy="36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640080" y="2423160"/>
            <a:ext cx="8046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100" b="0" i="1" u="none" strike="noStrike" noProof="0" dirty="0">
                <a:solidFill>
                  <a:srgbClr val="CBD5E0"/>
                </a:solidFill>
                <a:effectLst/>
                <a:uFillTx/>
                <a:latin typeface="Calibri"/>
              </a:rPr>
              <a:t>Stage de fin de formation </a:t>
            </a:r>
            <a:r>
              <a:rPr lang="fr-FR" sz="1100" i="1" dirty="0">
                <a:solidFill>
                  <a:srgbClr val="CBD5E0"/>
                </a:solidFill>
                <a:latin typeface="Calibri"/>
              </a:rPr>
              <a:t> </a:t>
            </a:r>
            <a:r>
              <a:rPr lang="fr-FR" sz="1100" b="0" i="1" u="none" strike="noStrike" noProof="0" dirty="0">
                <a:solidFill>
                  <a:srgbClr val="CBD5E0"/>
                </a:solidFill>
                <a:effectLst/>
                <a:uFillTx/>
                <a:latin typeface="Calibri"/>
              </a:rPr>
              <a:t>Licence Big Data &amp; Analyse des données</a:t>
            </a:r>
            <a:endParaRPr lang="fr-FR" sz="1100" b="0" i="1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640080" y="28346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Étudiant : </a:t>
            </a:r>
            <a:r>
              <a:rPr lang="fr-FR" sz="1200" b="1" u="none" strike="noStrike" noProof="0" dirty="0">
                <a:solidFill>
                  <a:srgbClr val="CBD5E0"/>
                </a:solidFill>
                <a:effectLst/>
                <a:uFillTx/>
                <a:latin typeface="Calibri"/>
              </a:rPr>
              <a:t>Ben Fidrich MANGUEMBI  </a:t>
            </a:r>
            <a:r>
              <a:rPr lang="fr-FR" sz="1200" b="0" u="none" strike="noStrike" noProof="0" dirty="0">
                <a:solidFill>
                  <a:srgbClr val="CBD5E0"/>
                </a:solidFill>
                <a:effectLst/>
                <a:uFillTx/>
                <a:latin typeface="Calibri"/>
              </a:rPr>
              <a:t>|  N° 2301263</a:t>
            </a:r>
            <a:endParaRPr lang="fr-FR" sz="12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640080" y="31363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Structure : </a:t>
            </a:r>
            <a:r>
              <a:rPr lang="fr-FR" sz="1200" b="0" u="none" strike="noStrike" noProof="0" dirty="0">
                <a:solidFill>
                  <a:srgbClr val="CBD5E0"/>
                </a:solidFill>
                <a:effectLst/>
                <a:uFillTx/>
                <a:latin typeface="Calibri"/>
              </a:rPr>
              <a:t>ZALYA Limited, Pointe-Noire, République du Congo</a:t>
            </a:r>
            <a:endParaRPr lang="fr-FR" sz="12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640080" y="34380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Période : </a:t>
            </a:r>
            <a:r>
              <a:rPr lang="fr-FR" sz="1200" b="0" u="none" strike="noStrike" noProof="0" dirty="0">
                <a:solidFill>
                  <a:srgbClr val="CBD5E0"/>
                </a:solidFill>
                <a:effectLst/>
                <a:uFillTx/>
                <a:latin typeface="Calibri"/>
              </a:rPr>
              <a:t>07 Mai — 06 Juin 2026</a:t>
            </a:r>
            <a:endParaRPr lang="fr-FR" sz="12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640080" y="37400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noProof="0" dirty="0">
                <a:solidFill>
                  <a:srgbClr val="028090"/>
                </a:solidFill>
                <a:latin typeface="Calibri"/>
              </a:rPr>
              <a:t>Présentation</a:t>
            </a:r>
            <a:r>
              <a:rPr lang="fr-FR" sz="1200" b="0" u="none" strike="noStrike" noProof="0" dirty="0">
                <a:solidFill>
                  <a:srgbClr val="FFFFFF"/>
                </a:solidFill>
                <a:effectLst/>
                <a:uFillTx/>
                <a:latin typeface="Arial"/>
              </a:rPr>
              <a:t> : </a:t>
            </a:r>
            <a:r>
              <a:rPr lang="fr-FR" sz="1200" dirty="0">
                <a:solidFill>
                  <a:srgbClr val="CBD5E0"/>
                </a:solidFill>
                <a:latin typeface="Calibri"/>
              </a:rPr>
              <a:t>06 juin 2026</a:t>
            </a:r>
          </a:p>
        </p:txBody>
      </p:sp>
      <p:sp>
        <p:nvSpPr>
          <p:cNvPr id="22" name="Text 12"/>
          <p:cNvSpPr/>
          <p:nvPr/>
        </p:nvSpPr>
        <p:spPr>
          <a:xfrm>
            <a:off x="640080" y="46634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i="1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Spécialité : Big Data et Analyse des Données (BDT)</a:t>
            </a:r>
            <a:endParaRPr lang="fr-FR" sz="9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BDC8213-9AFB-9B96-709F-27571A0E8B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9525" y="202671"/>
            <a:ext cx="899795" cy="899795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869D7F82-D272-4B44-164E-795CE0ACBD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0880" y="204300"/>
            <a:ext cx="900000" cy="9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0"/>
          <p:cNvSpPr/>
          <p:nvPr/>
        </p:nvSpPr>
        <p:spPr>
          <a:xfrm>
            <a:off x="457200" y="255960"/>
            <a:ext cx="2011320" cy="2739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"/>
          <p:cNvSpPr/>
          <p:nvPr/>
        </p:nvSpPr>
        <p:spPr>
          <a:xfrm>
            <a:off x="457200" y="25596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00" b="1" u="none" strike="noStrike" noProof="0" dirty="0">
                <a:solidFill>
                  <a:srgbClr val="FFFFFF"/>
                </a:solidFill>
                <a:effectLst/>
                <a:uFillTx/>
                <a:latin typeface="Calibri"/>
              </a:rPr>
              <a:t>PLAN DE LA PRÉSENTATION</a:t>
            </a:r>
            <a:endParaRPr lang="fr-FR" sz="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2"/>
          <p:cNvSpPr/>
          <p:nvPr/>
        </p:nvSpPr>
        <p:spPr>
          <a:xfrm>
            <a:off x="457200" y="5943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2600" b="1" u="none" strike="noStrike" noProof="0" dirty="0">
                <a:solidFill>
                  <a:srgbClr val="0C1D2D"/>
                </a:solidFill>
                <a:effectLst/>
                <a:uFillTx/>
                <a:latin typeface="Calibri"/>
              </a:rPr>
              <a:t>Sommaire</a:t>
            </a:r>
            <a:endParaRPr lang="fr-FR" sz="2600" b="0" u="none" strike="noStrike" noProof="0" dirty="0">
              <a:solidFill>
                <a:srgbClr val="0C1D2D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3"/>
          <p:cNvSpPr/>
          <p:nvPr/>
        </p:nvSpPr>
        <p:spPr>
          <a:xfrm>
            <a:off x="457200" y="1280160"/>
            <a:ext cx="4023000" cy="7128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4"/>
          <p:cNvSpPr/>
          <p:nvPr/>
        </p:nvSpPr>
        <p:spPr>
          <a:xfrm>
            <a:off x="594360" y="1463040"/>
            <a:ext cx="383760" cy="383760"/>
          </a:xfr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5"/>
          <p:cNvSpPr/>
          <p:nvPr/>
        </p:nvSpPr>
        <p:spPr>
          <a:xfrm>
            <a:off x="594360" y="14630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01</a:t>
            </a:r>
            <a:endParaRPr lang="fr-FR" sz="1000" b="0" u="none" strike="noStrike" noProof="0" dirty="0">
              <a:solidFill>
                <a:srgbClr val="02809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6"/>
          <p:cNvSpPr/>
          <p:nvPr/>
        </p:nvSpPr>
        <p:spPr>
          <a:xfrm>
            <a:off x="1097280" y="137160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100" b="1" u="none" strike="noStrike" noProof="0" dirty="0">
                <a:solidFill>
                  <a:srgbClr val="0D1B4B"/>
                </a:solidFill>
                <a:effectLst/>
                <a:uFillTx/>
                <a:latin typeface="Calibri"/>
              </a:rPr>
              <a:t>Présentation de ZALYA Ltd</a:t>
            </a:r>
            <a:endParaRPr lang="fr-F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7"/>
          <p:cNvSpPr/>
          <p:nvPr/>
        </p:nvSpPr>
        <p:spPr>
          <a:xfrm>
            <a:off x="1097280" y="166428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Contexte, historique, organisation</a:t>
            </a:r>
            <a:endParaRPr lang="fr-FR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8"/>
          <p:cNvSpPr/>
          <p:nvPr/>
        </p:nvSpPr>
        <p:spPr>
          <a:xfrm>
            <a:off x="4754880" y="1280160"/>
            <a:ext cx="4023000" cy="7128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9"/>
          <p:cNvSpPr/>
          <p:nvPr/>
        </p:nvSpPr>
        <p:spPr>
          <a:xfrm>
            <a:off x="4892040" y="1463040"/>
            <a:ext cx="383760" cy="383760"/>
          </a:xfr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0"/>
          <p:cNvSpPr/>
          <p:nvPr/>
        </p:nvSpPr>
        <p:spPr>
          <a:xfrm>
            <a:off x="4892040" y="14630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02</a:t>
            </a:r>
            <a:endParaRPr lang="fr-FR" sz="1000" b="0" u="none" strike="noStrike" noProof="0" dirty="0">
              <a:solidFill>
                <a:srgbClr val="02809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1"/>
          <p:cNvSpPr/>
          <p:nvPr/>
        </p:nvSpPr>
        <p:spPr>
          <a:xfrm>
            <a:off x="5394960" y="137160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100" b="1" u="none" strike="noStrike" noProof="0" dirty="0">
                <a:solidFill>
                  <a:srgbClr val="0D1B4B"/>
                </a:solidFill>
                <a:effectLst/>
                <a:uFillTx/>
                <a:latin typeface="Calibri"/>
              </a:rPr>
              <a:t>Problématique &amp; Objectifs</a:t>
            </a:r>
            <a:endParaRPr lang="fr-F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2"/>
          <p:cNvSpPr/>
          <p:nvPr/>
        </p:nvSpPr>
        <p:spPr>
          <a:xfrm>
            <a:off x="5394960" y="166428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Constat de départ, enjeux, questions clés</a:t>
            </a:r>
            <a:endParaRPr lang="fr-FR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3"/>
          <p:cNvSpPr/>
          <p:nvPr/>
        </p:nvSpPr>
        <p:spPr>
          <a:xfrm>
            <a:off x="457200" y="2148840"/>
            <a:ext cx="4023000" cy="7128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4"/>
          <p:cNvSpPr/>
          <p:nvPr/>
        </p:nvSpPr>
        <p:spPr>
          <a:xfrm>
            <a:off x="594360" y="2331720"/>
            <a:ext cx="383760" cy="383760"/>
          </a:xfr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5"/>
          <p:cNvSpPr/>
          <p:nvPr/>
        </p:nvSpPr>
        <p:spPr>
          <a:xfrm>
            <a:off x="594360" y="2331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03</a:t>
            </a:r>
            <a:endParaRPr lang="fr-FR" sz="1000" b="0" u="none" strike="noStrike" noProof="0" dirty="0">
              <a:solidFill>
                <a:srgbClr val="02809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6"/>
          <p:cNvSpPr/>
          <p:nvPr/>
        </p:nvSpPr>
        <p:spPr>
          <a:xfrm>
            <a:off x="1097280" y="224028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100" b="1" u="none" strike="noStrike" noProof="0" dirty="0">
                <a:solidFill>
                  <a:srgbClr val="0D1B4B"/>
                </a:solidFill>
                <a:effectLst/>
                <a:uFillTx/>
                <a:latin typeface="Calibri"/>
              </a:rPr>
              <a:t>Architecture de la solution</a:t>
            </a:r>
            <a:endParaRPr lang="fr-F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7"/>
          <p:cNvSpPr/>
          <p:nvPr/>
        </p:nvSpPr>
        <p:spPr>
          <a:xfrm>
            <a:off x="1097280" y="253296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Pipeline de données, technologies utilisées</a:t>
            </a:r>
            <a:endParaRPr lang="fr-FR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8"/>
          <p:cNvSpPr/>
          <p:nvPr/>
        </p:nvSpPr>
        <p:spPr>
          <a:xfrm>
            <a:off x="4754880" y="2148840"/>
            <a:ext cx="4023000" cy="7128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9"/>
          <p:cNvSpPr/>
          <p:nvPr/>
        </p:nvSpPr>
        <p:spPr>
          <a:xfrm>
            <a:off x="4892040" y="2331720"/>
            <a:ext cx="383760" cy="383760"/>
          </a:xfr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0"/>
          <p:cNvSpPr/>
          <p:nvPr/>
        </p:nvSpPr>
        <p:spPr>
          <a:xfrm>
            <a:off x="4892040" y="2331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04</a:t>
            </a:r>
            <a:endParaRPr lang="fr-FR" sz="1000" b="0" u="none" strike="noStrike" noProof="0" dirty="0">
              <a:solidFill>
                <a:srgbClr val="02809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1"/>
          <p:cNvSpPr/>
          <p:nvPr/>
        </p:nvSpPr>
        <p:spPr>
          <a:xfrm>
            <a:off x="5394960" y="224028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100" b="1" u="none" strike="noStrike" noProof="0" dirty="0">
                <a:solidFill>
                  <a:srgbClr val="0D1B4B"/>
                </a:solidFill>
                <a:effectLst/>
                <a:uFillTx/>
                <a:latin typeface="Calibri"/>
              </a:rPr>
              <a:t>Implémentation technique</a:t>
            </a:r>
            <a:endParaRPr lang="fr-F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2"/>
          <p:cNvSpPr/>
          <p:nvPr/>
        </p:nvSpPr>
        <p:spPr>
          <a:xfrm>
            <a:off x="5394960" y="253296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Prétraitement, MongoDB, KPI, Power BI</a:t>
            </a:r>
            <a:endParaRPr lang="fr-FR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3"/>
          <p:cNvSpPr/>
          <p:nvPr/>
        </p:nvSpPr>
        <p:spPr>
          <a:xfrm>
            <a:off x="457200" y="3017520"/>
            <a:ext cx="4023000" cy="7128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4"/>
          <p:cNvSpPr/>
          <p:nvPr/>
        </p:nvSpPr>
        <p:spPr>
          <a:xfrm>
            <a:off x="594360" y="3200400"/>
            <a:ext cx="383760" cy="383760"/>
          </a:xfr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5"/>
          <p:cNvSpPr/>
          <p:nvPr/>
        </p:nvSpPr>
        <p:spPr>
          <a:xfrm>
            <a:off x="594360" y="3200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05</a:t>
            </a:r>
            <a:endParaRPr lang="fr-FR" sz="1000" b="0" u="none" strike="noStrike" noProof="0" dirty="0">
              <a:solidFill>
                <a:srgbClr val="02809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6"/>
          <p:cNvSpPr/>
          <p:nvPr/>
        </p:nvSpPr>
        <p:spPr>
          <a:xfrm>
            <a:off x="1097280" y="310896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100" b="1" u="none" strike="noStrike" noProof="0" dirty="0">
                <a:solidFill>
                  <a:srgbClr val="0D1B4B"/>
                </a:solidFill>
                <a:effectLst/>
                <a:uFillTx/>
                <a:latin typeface="Calibri"/>
              </a:rPr>
              <a:t>Résultats &amp; Indicateurs clés</a:t>
            </a:r>
            <a:endParaRPr lang="fr-F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7"/>
          <p:cNvSpPr/>
          <p:nvPr/>
        </p:nvSpPr>
        <p:spPr>
          <a:xfrm>
            <a:off x="1097280" y="340164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CA, conversions, rentabilité, anomalies</a:t>
            </a:r>
            <a:endParaRPr lang="fr-FR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29"/>
          <p:cNvSpPr/>
          <p:nvPr/>
        </p:nvSpPr>
        <p:spPr>
          <a:xfrm>
            <a:off x="4892040" y="3200400"/>
            <a:ext cx="383760" cy="383760"/>
          </a:xfr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0"/>
          <p:cNvSpPr/>
          <p:nvPr/>
        </p:nvSpPr>
        <p:spPr>
          <a:xfrm>
            <a:off x="4892040" y="3200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FFFFFF"/>
                </a:solidFill>
                <a:effectLst/>
                <a:uFillTx/>
                <a:latin typeface="Calibri"/>
              </a:rPr>
              <a:t>06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8"/>
          <p:cNvSpPr/>
          <p:nvPr/>
        </p:nvSpPr>
        <p:spPr>
          <a:xfrm>
            <a:off x="4754880" y="3908714"/>
            <a:ext cx="4023000" cy="7128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1"/>
          <p:cNvSpPr/>
          <p:nvPr/>
        </p:nvSpPr>
        <p:spPr>
          <a:xfrm>
            <a:off x="5394960" y="4000154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100" b="1" u="none" strike="noStrike" noProof="0" dirty="0">
                <a:solidFill>
                  <a:srgbClr val="0D1B4B"/>
                </a:solidFill>
                <a:effectLst/>
                <a:uFillTx/>
                <a:latin typeface="Calibri"/>
              </a:rPr>
              <a:t>Conclusion &amp; Perspectives</a:t>
            </a:r>
            <a:endParaRPr lang="fr-F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32"/>
          <p:cNvSpPr/>
          <p:nvPr/>
        </p:nvSpPr>
        <p:spPr>
          <a:xfrm>
            <a:off x="5394960" y="4292834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Synthèse, limites, évolutions futures</a:t>
            </a:r>
            <a:endParaRPr lang="fr-FR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3D902BBB-C268-6D59-8946-AA77642BA94B}"/>
              </a:ext>
            </a:extLst>
          </p:cNvPr>
          <p:cNvGrpSpPr/>
          <p:nvPr/>
        </p:nvGrpSpPr>
        <p:grpSpPr>
          <a:xfrm>
            <a:off x="4754880" y="3017520"/>
            <a:ext cx="4023000" cy="712800"/>
            <a:chOff x="431453" y="3891837"/>
            <a:chExt cx="4023000" cy="712800"/>
          </a:xfrm>
        </p:grpSpPr>
        <p:sp>
          <p:nvSpPr>
            <p:cNvPr id="2" name="Shape 23">
              <a:extLst>
                <a:ext uri="{FF2B5EF4-FFF2-40B4-BE49-F238E27FC236}">
                  <a16:creationId xmlns:a16="http://schemas.microsoft.com/office/drawing/2014/main" id="{6D142E46-4DCE-3AE6-BA7A-FF28861F5B2C}"/>
                </a:ext>
              </a:extLst>
            </p:cNvPr>
            <p:cNvSpPr/>
            <p:nvPr/>
          </p:nvSpPr>
          <p:spPr>
            <a:xfrm>
              <a:off x="431453" y="3891837"/>
              <a:ext cx="4023000" cy="71280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12700">
              <a:solidFill>
                <a:srgbClr val="FFFFFF"/>
              </a:solidFill>
              <a:round/>
            </a:ln>
            <a:effectLst>
              <a:outerShdw blurRad="127080" dist="37674" dir="8100000" algn="bl" rotWithShape="0">
                <a:srgbClr val="000000">
                  <a:alpha val="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30072922-7699-9E45-0E75-BD70E96410CE}"/>
                </a:ext>
              </a:extLst>
            </p:cNvPr>
            <p:cNvSpPr txBox="1"/>
            <p:nvPr/>
          </p:nvSpPr>
          <p:spPr>
            <a:xfrm>
              <a:off x="1103954" y="3978160"/>
              <a:ext cx="244241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100" b="1" dirty="0">
                  <a:solidFill>
                    <a:srgbClr val="0D1B4B"/>
                  </a:solidFill>
                  <a:latin typeface="Calibri"/>
                </a:rPr>
                <a:t>Tableaux</a:t>
              </a:r>
              <a:r>
                <a:rPr lang="fr-FR" sz="1100" dirty="0"/>
                <a:t> </a:t>
              </a:r>
              <a:r>
                <a:rPr lang="fr-FR" sz="1100" b="1" dirty="0">
                  <a:solidFill>
                    <a:srgbClr val="0D1B4B"/>
                  </a:solidFill>
                  <a:latin typeface="Calibri"/>
                </a:rPr>
                <a:t>de bord Power BI  </a:t>
              </a: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1CAEF19C-C8F4-F3BE-2CA4-8757ED8DD73D}"/>
                </a:ext>
              </a:extLst>
            </p:cNvPr>
            <p:cNvSpPr txBox="1"/>
            <p:nvPr/>
          </p:nvSpPr>
          <p:spPr>
            <a:xfrm>
              <a:off x="1103392" y="4294929"/>
              <a:ext cx="320004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tabLst>
                  <a:tab pos="0" algn="l"/>
                </a:tabLst>
              </a:pPr>
              <a:r>
                <a:rPr lang="fr-FR" sz="900" dirty="0">
                  <a:solidFill>
                    <a:srgbClr val="64748B"/>
                  </a:solidFill>
                </a:rPr>
                <a:t>Dashboard global, analyse ventes/ opération, opportunités </a:t>
              </a:r>
              <a:endParaRPr lang="fr-FR" sz="9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84514F35-7AC3-AF4F-CEAA-F94A05D39B3B}"/>
              </a:ext>
            </a:extLst>
          </p:cNvPr>
          <p:cNvGrpSpPr/>
          <p:nvPr/>
        </p:nvGrpSpPr>
        <p:grpSpPr>
          <a:xfrm>
            <a:off x="457200" y="3913200"/>
            <a:ext cx="4023000" cy="712800"/>
            <a:chOff x="4754880" y="3886200"/>
            <a:chExt cx="4023000" cy="712800"/>
          </a:xfrm>
        </p:grpSpPr>
        <p:sp>
          <p:nvSpPr>
            <p:cNvPr id="3" name="Shape 23">
              <a:extLst>
                <a:ext uri="{FF2B5EF4-FFF2-40B4-BE49-F238E27FC236}">
                  <a16:creationId xmlns:a16="http://schemas.microsoft.com/office/drawing/2014/main" id="{BDF8759E-7EFC-6875-F02F-EB173EBF747A}"/>
                </a:ext>
              </a:extLst>
            </p:cNvPr>
            <p:cNvSpPr/>
            <p:nvPr/>
          </p:nvSpPr>
          <p:spPr>
            <a:xfrm>
              <a:off x="4754880" y="3886200"/>
              <a:ext cx="4023000" cy="71280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12700">
              <a:solidFill>
                <a:srgbClr val="FFFFFF"/>
              </a:solidFill>
              <a:round/>
            </a:ln>
            <a:effectLst>
              <a:outerShdw blurRad="127080" dist="37674" dir="8100000" algn="bl" rotWithShape="0">
                <a:srgbClr val="000000">
                  <a:alpha val="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fr-FR" sz="1800" b="0" u="none" strike="noStrike" noProof="0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DF19BA31-718D-6D07-2B9E-16E15F9AE1F9}"/>
                </a:ext>
              </a:extLst>
            </p:cNvPr>
            <p:cNvSpPr txBox="1"/>
            <p:nvPr/>
          </p:nvSpPr>
          <p:spPr>
            <a:xfrm>
              <a:off x="5394960" y="3976504"/>
              <a:ext cx="244241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100" b="1" dirty="0">
                  <a:solidFill>
                    <a:srgbClr val="0D1B4B"/>
                  </a:solidFill>
                  <a:latin typeface="Calibri"/>
                </a:rPr>
                <a:t>Anomalies &amp; Insights  </a:t>
              </a: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9ABC6822-0CAD-7F62-B8AD-B0AFE1046625}"/>
                </a:ext>
              </a:extLst>
            </p:cNvPr>
            <p:cNvSpPr txBox="1"/>
            <p:nvPr/>
          </p:nvSpPr>
          <p:spPr>
            <a:xfrm>
              <a:off x="5394959" y="4278578"/>
              <a:ext cx="320004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tabLst>
                  <a:tab pos="0" algn="l"/>
                </a:tabLst>
              </a:pPr>
              <a:r>
                <a:rPr lang="fr-FR" sz="900" dirty="0">
                  <a:solidFill>
                    <a:srgbClr val="64748B"/>
                  </a:solidFill>
                </a:rPr>
                <a:t>Blocage pipeline, marge…</a:t>
              </a:r>
              <a:endParaRPr lang="fr-FR" sz="900" dirty="0">
                <a:solidFill>
                  <a:srgbClr val="000000"/>
                </a:solidFill>
              </a:endParaRPr>
            </a:p>
          </p:txBody>
        </p:sp>
      </p:grpSp>
      <p:sp>
        <p:nvSpPr>
          <p:cNvPr id="14" name="Text 25">
            <a:extLst>
              <a:ext uri="{FF2B5EF4-FFF2-40B4-BE49-F238E27FC236}">
                <a16:creationId xmlns:a16="http://schemas.microsoft.com/office/drawing/2014/main" id="{A9F529E1-41B0-8151-DAF4-4F46AAA7CC8C}"/>
              </a:ext>
            </a:extLst>
          </p:cNvPr>
          <p:cNvSpPr/>
          <p:nvPr/>
        </p:nvSpPr>
        <p:spPr>
          <a:xfrm>
            <a:off x="4892039" y="3194601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06</a:t>
            </a:r>
            <a:endParaRPr lang="fr-FR" sz="1000" b="0" u="none" strike="noStrike" noProof="0" dirty="0">
              <a:solidFill>
                <a:srgbClr val="02809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25">
            <a:extLst>
              <a:ext uri="{FF2B5EF4-FFF2-40B4-BE49-F238E27FC236}">
                <a16:creationId xmlns:a16="http://schemas.microsoft.com/office/drawing/2014/main" id="{59F8D259-A378-7C4E-666C-EF34ECE5A74F}"/>
              </a:ext>
            </a:extLst>
          </p:cNvPr>
          <p:cNvSpPr/>
          <p:nvPr/>
        </p:nvSpPr>
        <p:spPr>
          <a:xfrm>
            <a:off x="594360" y="4100954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07</a:t>
            </a:r>
            <a:endParaRPr lang="fr-FR" sz="1000" b="0" u="none" strike="noStrike" noProof="0" dirty="0">
              <a:solidFill>
                <a:srgbClr val="02809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25">
            <a:extLst>
              <a:ext uri="{FF2B5EF4-FFF2-40B4-BE49-F238E27FC236}">
                <a16:creationId xmlns:a16="http://schemas.microsoft.com/office/drawing/2014/main" id="{8ABE647B-0C44-5DE4-A079-E29B76335EB8}"/>
              </a:ext>
            </a:extLst>
          </p:cNvPr>
          <p:cNvSpPr/>
          <p:nvPr/>
        </p:nvSpPr>
        <p:spPr>
          <a:xfrm>
            <a:off x="4892039" y="4082234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08</a:t>
            </a:r>
            <a:endParaRPr lang="fr-FR" sz="1000" b="0" u="none" strike="noStrike" noProof="0" dirty="0">
              <a:solidFill>
                <a:srgbClr val="02809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0"/>
          <p:cNvSpPr/>
          <p:nvPr/>
        </p:nvSpPr>
        <p:spPr>
          <a:xfrm>
            <a:off x="457200" y="228600"/>
            <a:ext cx="2011320" cy="2739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"/>
          <p:cNvSpPr/>
          <p:nvPr/>
        </p:nvSpPr>
        <p:spPr>
          <a:xfrm>
            <a:off x="457200" y="22860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00" b="1" u="none" strike="noStrike" noProof="0" dirty="0">
                <a:solidFill>
                  <a:srgbClr val="FFFFFF"/>
                </a:solidFill>
                <a:effectLst/>
                <a:uFillTx/>
                <a:latin typeface="Calibri"/>
              </a:rPr>
              <a:t>01 — STRUCTURE D'ACCUEIL</a:t>
            </a:r>
            <a:endParaRPr lang="fr-FR" sz="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"/>
          <p:cNvSpPr/>
          <p:nvPr/>
        </p:nvSpPr>
        <p:spPr>
          <a:xfrm>
            <a:off x="457200" y="5670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2600" b="1" u="none" strike="noStrike" noProof="0" dirty="0">
                <a:solidFill>
                  <a:srgbClr val="0C1D2D"/>
                </a:solidFill>
                <a:effectLst/>
                <a:uFillTx/>
                <a:latin typeface="Calibri"/>
              </a:rPr>
              <a:t>ZALYA Limited</a:t>
            </a:r>
            <a:endParaRPr lang="fr-FR" sz="2600" b="0" u="none" strike="noStrike" noProof="0" dirty="0">
              <a:solidFill>
                <a:srgbClr val="0C1D2D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3"/>
          <p:cNvSpPr/>
          <p:nvPr/>
        </p:nvSpPr>
        <p:spPr>
          <a:xfrm>
            <a:off x="457200" y="1207080"/>
            <a:ext cx="4114440" cy="3474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4"/>
          <p:cNvSpPr/>
          <p:nvPr/>
        </p:nvSpPr>
        <p:spPr>
          <a:xfrm>
            <a:off x="959760" y="1429190"/>
            <a:ext cx="3017520" cy="13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1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 Fondée</a:t>
            </a:r>
            <a:endParaRPr lang="fr-FR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5"/>
          <p:cNvSpPr/>
          <p:nvPr/>
        </p:nvSpPr>
        <p:spPr>
          <a:xfrm>
            <a:off x="982980" y="156635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0" u="none" strike="noStrike" noProof="0" dirty="0">
                <a:solidFill>
                  <a:srgbClr val="1A2035"/>
                </a:solidFill>
                <a:effectLst/>
                <a:uFillTx/>
                <a:latin typeface="Calibri"/>
              </a:rPr>
              <a:t>Septembre 2025 </a:t>
            </a:r>
            <a:r>
              <a:rPr lang="fr-FR" sz="1000" noProof="0" dirty="0">
                <a:solidFill>
                  <a:srgbClr val="1A2035"/>
                </a:solidFill>
                <a:latin typeface="Calibri"/>
              </a:rPr>
              <a:t>à</a:t>
            </a:r>
            <a:r>
              <a:rPr lang="fr-FR" sz="1000" b="0" u="none" strike="noStrike" noProof="0" dirty="0">
                <a:solidFill>
                  <a:srgbClr val="1A2035"/>
                </a:solidFill>
                <a:effectLst/>
                <a:uFillTx/>
                <a:latin typeface="Calibri"/>
              </a:rPr>
              <a:t> Pointe-Noire, Congo</a:t>
            </a:r>
          </a:p>
        </p:txBody>
      </p:sp>
      <p:sp>
        <p:nvSpPr>
          <p:cNvPr id="62" name="Text 6"/>
          <p:cNvSpPr/>
          <p:nvPr/>
        </p:nvSpPr>
        <p:spPr>
          <a:xfrm>
            <a:off x="970330" y="1910520"/>
            <a:ext cx="1963420" cy="1936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1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 Adresse</a:t>
            </a:r>
            <a:endParaRPr lang="fr-FR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7"/>
          <p:cNvSpPr/>
          <p:nvPr/>
        </p:nvSpPr>
        <p:spPr>
          <a:xfrm>
            <a:off x="994590" y="2110292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0" u="none" strike="noStrike" noProof="0" dirty="0">
                <a:solidFill>
                  <a:srgbClr val="1A2035"/>
                </a:solidFill>
                <a:effectLst/>
                <a:uFillTx/>
                <a:latin typeface="Calibri"/>
              </a:rPr>
              <a:t>05 rue de Nemba, Camp 31 Juillet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8"/>
          <p:cNvSpPr/>
          <p:nvPr/>
        </p:nvSpPr>
        <p:spPr>
          <a:xfrm>
            <a:off x="959760" y="2457900"/>
            <a:ext cx="113157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1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 Mission</a:t>
            </a:r>
            <a:endParaRPr lang="fr-FR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9"/>
          <p:cNvSpPr/>
          <p:nvPr/>
        </p:nvSpPr>
        <p:spPr>
          <a:xfrm>
            <a:off x="982980" y="2676571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0" u="none" strike="noStrike" noProof="0" dirty="0">
                <a:solidFill>
                  <a:srgbClr val="1A2035"/>
                </a:solidFill>
                <a:effectLst/>
                <a:uFillTx/>
                <a:latin typeface="Calibri"/>
              </a:rPr>
              <a:t>Solutions numériques &amp; services tech pour entreprises africaines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0"/>
          <p:cNvSpPr/>
          <p:nvPr/>
        </p:nvSpPr>
        <p:spPr>
          <a:xfrm>
            <a:off x="959760" y="3015540"/>
            <a:ext cx="145125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1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 Vision</a:t>
            </a:r>
            <a:endParaRPr lang="fr-FR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1"/>
          <p:cNvSpPr/>
          <p:nvPr/>
        </p:nvSpPr>
        <p:spPr>
          <a:xfrm>
            <a:off x="1005480" y="3233439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0" u="none" strike="noStrike" noProof="0" dirty="0">
                <a:solidFill>
                  <a:srgbClr val="1A2035"/>
                </a:solidFill>
                <a:effectLst/>
                <a:uFillTx/>
                <a:latin typeface="Calibri"/>
              </a:rPr>
              <a:t>Acteur de référence en digitalisation en Afrique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2"/>
          <p:cNvSpPr/>
          <p:nvPr/>
        </p:nvSpPr>
        <p:spPr>
          <a:xfrm>
            <a:off x="959760" y="3598200"/>
            <a:ext cx="145125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1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 Valeurs</a:t>
            </a:r>
            <a:endParaRPr lang="fr-FR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3"/>
          <p:cNvSpPr/>
          <p:nvPr/>
        </p:nvSpPr>
        <p:spPr>
          <a:xfrm>
            <a:off x="982980" y="3857179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0" u="none" strike="noStrike" noProof="0" dirty="0">
                <a:solidFill>
                  <a:srgbClr val="1A2035"/>
                </a:solidFill>
                <a:effectLst/>
                <a:uFillTx/>
                <a:latin typeface="Calibri"/>
              </a:rPr>
              <a:t>Fiabilité · Innovation · Impact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4"/>
          <p:cNvSpPr/>
          <p:nvPr/>
        </p:nvSpPr>
        <p:spPr>
          <a:xfrm>
            <a:off x="4754880" y="1207080"/>
            <a:ext cx="3931560" cy="3474360"/>
          </a:xfrm>
          <a:prstGeom prst="roundRect">
            <a:avLst>
              <a:gd name="adj" fmla="val 3158"/>
            </a:avLst>
          </a:prstGeom>
          <a:solidFill>
            <a:srgbClr val="0C1D2D"/>
          </a:solidFill>
          <a:ln w="12700">
            <a:solidFill>
              <a:srgbClr val="0D1B4B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5"/>
          <p:cNvSpPr/>
          <p:nvPr/>
        </p:nvSpPr>
        <p:spPr>
          <a:xfrm>
            <a:off x="4892040" y="132588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400" b="1" u="none" strike="noStrike" noProof="0" dirty="0">
                <a:solidFill>
                  <a:srgbClr val="02C39A"/>
                </a:solidFill>
                <a:effectLst/>
                <a:uFillTx/>
                <a:latin typeface="Calibri"/>
              </a:rPr>
              <a:t>5 Réalisations Tech</a:t>
            </a:r>
            <a:endParaRPr lang="fr-FR" sz="1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6"/>
          <p:cNvSpPr/>
          <p:nvPr/>
        </p:nvSpPr>
        <p:spPr>
          <a:xfrm>
            <a:off x="4892040" y="1874520"/>
            <a:ext cx="54360" cy="2008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7"/>
          <p:cNvSpPr/>
          <p:nvPr/>
        </p:nvSpPr>
        <p:spPr>
          <a:xfrm>
            <a:off x="5074920" y="178308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100" b="1" u="none" strike="noStrike" noProof="0" dirty="0">
                <a:solidFill>
                  <a:srgbClr val="FFFFFF"/>
                </a:solidFill>
                <a:effectLst/>
                <a:uFillTx/>
                <a:latin typeface="Calibri"/>
              </a:rPr>
              <a:t>NZO  </a:t>
            </a:r>
            <a:r>
              <a:rPr lang="fr-FR" sz="1000" b="0" u="none" strike="noStrike" noProof="0" dirty="0">
                <a:solidFill>
                  <a:srgbClr val="CBD5E0"/>
                </a:solidFill>
                <a:effectLst/>
                <a:uFillTx/>
                <a:latin typeface="Calibri"/>
              </a:rPr>
              <a:t>Plateforme immobilière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8"/>
          <p:cNvSpPr/>
          <p:nvPr/>
        </p:nvSpPr>
        <p:spPr>
          <a:xfrm>
            <a:off x="4892040" y="2404800"/>
            <a:ext cx="54360" cy="2008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9"/>
          <p:cNvSpPr/>
          <p:nvPr/>
        </p:nvSpPr>
        <p:spPr>
          <a:xfrm>
            <a:off x="5074920" y="231336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100" b="1" u="none" strike="noStrike" noProof="0" dirty="0">
                <a:solidFill>
                  <a:srgbClr val="FFFFFF"/>
                </a:solidFill>
                <a:effectLst/>
                <a:uFillTx/>
                <a:latin typeface="Calibri"/>
              </a:rPr>
              <a:t>Mobembo  </a:t>
            </a:r>
            <a:r>
              <a:rPr lang="fr-FR" sz="1000" b="0" u="none" strike="noStrike" noProof="0" dirty="0">
                <a:solidFill>
                  <a:srgbClr val="CBD5E0"/>
                </a:solidFill>
                <a:effectLst/>
                <a:uFillTx/>
                <a:latin typeface="Calibri"/>
              </a:rPr>
              <a:t>Billetterie en ligne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0"/>
          <p:cNvSpPr/>
          <p:nvPr/>
        </p:nvSpPr>
        <p:spPr>
          <a:xfrm>
            <a:off x="4892040" y="2935080"/>
            <a:ext cx="54360" cy="2008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1"/>
          <p:cNvSpPr/>
          <p:nvPr/>
        </p:nvSpPr>
        <p:spPr>
          <a:xfrm>
            <a:off x="5074920" y="284364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100" b="1" u="none" strike="noStrike" noProof="0" dirty="0">
                <a:solidFill>
                  <a:srgbClr val="FFFFFF"/>
                </a:solidFill>
                <a:effectLst/>
                <a:uFillTx/>
                <a:latin typeface="Calibri"/>
              </a:rPr>
              <a:t>Kolia  </a:t>
            </a:r>
            <a:r>
              <a:rPr lang="fr-FR" sz="1000" b="0" u="none" strike="noStrike" noProof="0" dirty="0">
                <a:solidFill>
                  <a:srgbClr val="CBD5E0"/>
                </a:solidFill>
                <a:effectLst/>
                <a:uFillTx/>
                <a:latin typeface="Calibri"/>
              </a:rPr>
              <a:t>Marketplace restaurants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22"/>
          <p:cNvSpPr/>
          <p:nvPr/>
        </p:nvSpPr>
        <p:spPr>
          <a:xfrm>
            <a:off x="4892040" y="3465720"/>
            <a:ext cx="54360" cy="2008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3"/>
          <p:cNvSpPr/>
          <p:nvPr/>
        </p:nvSpPr>
        <p:spPr>
          <a:xfrm>
            <a:off x="5074920" y="337428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100" b="1" u="none" strike="noStrike" noProof="0" dirty="0">
                <a:solidFill>
                  <a:srgbClr val="FFFFFF"/>
                </a:solidFill>
                <a:effectLst/>
                <a:uFillTx/>
                <a:latin typeface="Calibri"/>
              </a:rPr>
              <a:t>SALISA  </a:t>
            </a:r>
            <a:r>
              <a:rPr lang="fr-FR" sz="1000" b="0" u="none" strike="noStrike" noProof="0" dirty="0">
                <a:solidFill>
                  <a:srgbClr val="CBD5E0"/>
                </a:solidFill>
                <a:effectLst/>
                <a:uFillTx/>
                <a:latin typeface="Calibri"/>
              </a:rPr>
              <a:t>Gestion assurance santé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24"/>
          <p:cNvSpPr/>
          <p:nvPr/>
        </p:nvSpPr>
        <p:spPr>
          <a:xfrm>
            <a:off x="4892040" y="3996000"/>
            <a:ext cx="54360" cy="2008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5"/>
          <p:cNvSpPr/>
          <p:nvPr/>
        </p:nvSpPr>
        <p:spPr>
          <a:xfrm>
            <a:off x="5074920" y="390456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100" b="1" u="none" strike="noStrike" noProof="0" dirty="0">
                <a:solidFill>
                  <a:srgbClr val="FFFFFF"/>
                </a:solidFill>
                <a:effectLst/>
                <a:uFillTx/>
                <a:latin typeface="Calibri"/>
              </a:rPr>
              <a:t>Moninga  </a:t>
            </a:r>
            <a:r>
              <a:rPr lang="fr-FR" sz="1000" b="0" u="none" strike="noStrike" noProof="0" dirty="0">
                <a:solidFill>
                  <a:srgbClr val="CBD5E0"/>
                </a:solidFill>
                <a:effectLst/>
                <a:uFillTx/>
                <a:latin typeface="Calibri"/>
              </a:rPr>
              <a:t>ERP gestion d'entreprise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26"/>
          <p:cNvSpPr/>
          <p:nvPr/>
        </p:nvSpPr>
        <p:spPr>
          <a:xfrm>
            <a:off x="457200" y="4754880"/>
            <a:ext cx="8229240" cy="27396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7"/>
          <p:cNvSpPr/>
          <p:nvPr/>
        </p:nvSpPr>
        <p:spPr>
          <a:xfrm>
            <a:off x="457200" y="4754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 noProof="0" dirty="0">
                <a:solidFill>
                  <a:srgbClr val="FFFFFF"/>
                </a:solidFill>
                <a:effectLst/>
                <a:uFillTx/>
                <a:latin typeface="Calibri"/>
              </a:rPr>
              <a:t>Informatique  ·  Industrie  ·  Importation  ·  Location &amp; Vente  ·  Représentation Commerciale  ·  Formation</a:t>
            </a:r>
            <a:endParaRPr lang="fr-FR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0293D4D-9417-7165-42FA-82E751CAA2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689" y="3588318"/>
            <a:ext cx="360000" cy="3600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021B655-9170-EA90-4751-A181C9B15F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26" y="3088962"/>
            <a:ext cx="360000" cy="36000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F492022-2200-AEFD-E4DB-4C85D4681D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720" y="2540883"/>
            <a:ext cx="360000" cy="36000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E6B5D51D-435D-9406-B98B-6D2A957D24C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26" y="1980155"/>
            <a:ext cx="360000" cy="36000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E605961C-6406-4984-A9F0-25D22B5DED6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1" y="1416581"/>
            <a:ext cx="360000" cy="36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0"/>
          <p:cNvSpPr/>
          <p:nvPr/>
        </p:nvSpPr>
        <p:spPr>
          <a:xfrm>
            <a:off x="457200" y="228600"/>
            <a:ext cx="2011320" cy="2739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"/>
          <p:cNvSpPr/>
          <p:nvPr/>
        </p:nvSpPr>
        <p:spPr>
          <a:xfrm>
            <a:off x="457200" y="22860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00" b="1" u="none" strike="noStrike" noProof="0" dirty="0">
                <a:solidFill>
                  <a:srgbClr val="FFFFFF"/>
                </a:solidFill>
                <a:effectLst/>
                <a:uFillTx/>
                <a:latin typeface="Calibri"/>
              </a:rPr>
              <a:t>02 — PROBLÉMATIQUE &amp; OBJECTIFS</a:t>
            </a:r>
            <a:endParaRPr lang="fr-FR" sz="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"/>
          <p:cNvSpPr/>
          <p:nvPr/>
        </p:nvSpPr>
        <p:spPr>
          <a:xfrm>
            <a:off x="457200" y="5670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2600" b="1" u="none" strike="noStrike" noProof="0" dirty="0">
                <a:solidFill>
                  <a:srgbClr val="0C1D2D"/>
                </a:solidFill>
                <a:effectLst/>
                <a:uFillTx/>
                <a:latin typeface="Calibri"/>
              </a:rPr>
              <a:t>Le Constat de Départ</a:t>
            </a:r>
            <a:endParaRPr lang="fr-FR" sz="2600" b="0" u="none" strike="noStrike" noProof="0" dirty="0">
              <a:solidFill>
                <a:srgbClr val="0C1D2D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3"/>
          <p:cNvSpPr/>
          <p:nvPr/>
        </p:nvSpPr>
        <p:spPr>
          <a:xfrm>
            <a:off x="457200" y="1207080"/>
            <a:ext cx="5303160" cy="1462680"/>
          </a:xfrm>
          <a:prstGeom prst="roundRect">
            <a:avLst>
              <a:gd name="adj" fmla="val 7500"/>
            </a:avLst>
          </a:prstGeom>
          <a:solidFill>
            <a:srgbClr val="0C1D2D"/>
          </a:solidFill>
          <a:ln w="12700">
            <a:solidFill>
              <a:srgbClr val="0D1B4B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C1D2D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4"/>
          <p:cNvSpPr/>
          <p:nvPr/>
        </p:nvSpPr>
        <p:spPr>
          <a:xfrm>
            <a:off x="457200" y="1207080"/>
            <a:ext cx="109440" cy="1462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5"/>
          <p:cNvSpPr/>
          <p:nvPr/>
        </p:nvSpPr>
        <p:spPr>
          <a:xfrm>
            <a:off x="685800" y="129852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100" b="1" u="none" strike="noStrike" noProof="0" dirty="0">
                <a:solidFill>
                  <a:srgbClr val="02C39A"/>
                </a:solidFill>
                <a:effectLst/>
                <a:uFillTx/>
                <a:latin typeface="Calibri"/>
              </a:rPr>
              <a:t>Problème identifié</a:t>
            </a:r>
            <a:endParaRPr lang="fr-F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6"/>
          <p:cNvSpPr/>
          <p:nvPr/>
        </p:nvSpPr>
        <p:spPr>
          <a:xfrm>
            <a:off x="685800" y="1600200"/>
            <a:ext cx="49374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0" u="none" strike="noStrike" noProof="0" dirty="0">
                <a:solidFill>
                  <a:srgbClr val="FFFFFF"/>
                </a:solidFill>
                <a:effectLst/>
                <a:uFillTx/>
                <a:latin typeface="Calibri"/>
              </a:rPr>
              <a:t>Zalya Limited possède des données de ventes (CRM Odoo + fichiers Excel) mais celles-ci ne sont ni centralisées ni exploitées structurellement  limitant fortement la capacité de pilotage stratégique.</a:t>
            </a:r>
            <a:endParaRPr lang="fr-FR" sz="10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7"/>
          <p:cNvSpPr/>
          <p:nvPr/>
        </p:nvSpPr>
        <p:spPr>
          <a:xfrm>
            <a:off x="5943600" y="1207080"/>
            <a:ext cx="2742840" cy="1462680"/>
          </a:xfrm>
          <a:prstGeom prst="roundRect">
            <a:avLst>
              <a:gd name="adj" fmla="val 7500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8"/>
          <p:cNvSpPr/>
          <p:nvPr/>
        </p:nvSpPr>
        <p:spPr>
          <a:xfrm>
            <a:off x="6035040" y="129852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0C1D2D"/>
                </a:solidFill>
                <a:effectLst/>
                <a:uFillTx/>
                <a:latin typeface="Calibri"/>
              </a:rPr>
              <a:t>Question centrale</a:t>
            </a:r>
            <a:endParaRPr lang="fr-FR" sz="1000" b="0" u="none" strike="noStrike" noProof="0" dirty="0">
              <a:solidFill>
                <a:srgbClr val="0C1D2D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9"/>
          <p:cNvSpPr/>
          <p:nvPr/>
        </p:nvSpPr>
        <p:spPr>
          <a:xfrm>
            <a:off x="6035040" y="1600200"/>
            <a:ext cx="25599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0" i="1" u="none" strike="noStrike" noProof="0" dirty="0">
                <a:solidFill>
                  <a:srgbClr val="0C1D2D"/>
                </a:solidFill>
                <a:effectLst/>
                <a:uFillTx/>
                <a:latin typeface="Calibri"/>
              </a:rPr>
              <a:t>Comment exploiter les données de ventes pour identifier les leviers de croissance du CA </a:t>
            </a:r>
            <a:r>
              <a:rPr lang="fr-FR" sz="1000" b="0" i="1" u="none" strike="noStrike" noProof="0" dirty="0">
                <a:solidFill>
                  <a:srgbClr val="0D1B4B"/>
                </a:solidFill>
                <a:effectLst/>
                <a:uFillTx/>
                <a:latin typeface="Calibri"/>
              </a:rPr>
              <a:t>?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0"/>
          <p:cNvSpPr/>
          <p:nvPr/>
        </p:nvSpPr>
        <p:spPr>
          <a:xfrm>
            <a:off x="457200" y="283464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1" u="none" strike="noStrike" noProof="0" dirty="0">
                <a:solidFill>
                  <a:srgbClr val="0C1D2D"/>
                </a:solidFill>
                <a:effectLst/>
                <a:uFillTx/>
                <a:latin typeface="Calibri"/>
              </a:rPr>
              <a:t>Objectifs spécifiques</a:t>
            </a:r>
            <a:endParaRPr lang="fr-FR" sz="1300" b="0" u="none" strike="noStrike" noProof="0" dirty="0">
              <a:solidFill>
                <a:srgbClr val="0C1D2D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1"/>
          <p:cNvSpPr/>
          <p:nvPr/>
        </p:nvSpPr>
        <p:spPr>
          <a:xfrm>
            <a:off x="457200" y="3300840"/>
            <a:ext cx="237240" cy="237240"/>
          </a:xfr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2"/>
          <p:cNvSpPr/>
          <p:nvPr/>
        </p:nvSpPr>
        <p:spPr>
          <a:xfrm>
            <a:off x="457200" y="330084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✓</a:t>
            </a:r>
            <a:endParaRPr lang="fr-FR" sz="900" b="0" u="none" strike="noStrike" noProof="0" dirty="0">
              <a:solidFill>
                <a:srgbClr val="02809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3"/>
          <p:cNvSpPr/>
          <p:nvPr/>
        </p:nvSpPr>
        <p:spPr>
          <a:xfrm>
            <a:off x="777240" y="324612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0C1D2D"/>
                </a:solidFill>
                <a:effectLst/>
                <a:uFillTx/>
                <a:latin typeface="Calibri"/>
              </a:rPr>
              <a:t>Collecter &amp; Structurer  </a:t>
            </a:r>
            <a:r>
              <a:rPr lang="fr-FR" sz="95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Données de ventes de toutes les sources</a:t>
            </a: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4"/>
          <p:cNvSpPr/>
          <p:nvPr/>
        </p:nvSpPr>
        <p:spPr>
          <a:xfrm>
            <a:off x="4754880" y="3300840"/>
            <a:ext cx="237240" cy="237240"/>
          </a:xfr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5"/>
          <p:cNvSpPr/>
          <p:nvPr/>
        </p:nvSpPr>
        <p:spPr>
          <a:xfrm>
            <a:off x="4754880" y="330084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✓</a:t>
            </a:r>
            <a:endParaRPr lang="fr-FR" sz="900" b="0" u="none" strike="noStrike" noProof="0" dirty="0">
              <a:solidFill>
                <a:srgbClr val="02809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6"/>
          <p:cNvSpPr/>
          <p:nvPr/>
        </p:nvSpPr>
        <p:spPr>
          <a:xfrm>
            <a:off x="5074920" y="324612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0C1D2D"/>
                </a:solidFill>
                <a:effectLst/>
                <a:uFillTx/>
                <a:latin typeface="Calibri"/>
              </a:rPr>
              <a:t>Définir les KPI  </a:t>
            </a:r>
            <a:r>
              <a:rPr lang="fr-FR" sz="95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Indicateurs clés de performances pertinentes</a:t>
            </a: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7"/>
          <p:cNvSpPr/>
          <p:nvPr/>
        </p:nvSpPr>
        <p:spPr>
          <a:xfrm>
            <a:off x="457200" y="3831480"/>
            <a:ext cx="237240" cy="237240"/>
          </a:xfr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8"/>
          <p:cNvSpPr/>
          <p:nvPr/>
        </p:nvSpPr>
        <p:spPr>
          <a:xfrm>
            <a:off x="457200" y="383148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✓</a:t>
            </a:r>
            <a:endParaRPr lang="fr-FR" sz="900" b="0" u="none" strike="noStrike" noProof="0" dirty="0">
              <a:solidFill>
                <a:srgbClr val="02809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9"/>
          <p:cNvSpPr/>
          <p:nvPr/>
        </p:nvSpPr>
        <p:spPr>
          <a:xfrm>
            <a:off x="777240" y="377640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0C1D2D"/>
                </a:solidFill>
                <a:effectLst/>
                <a:uFillTx/>
                <a:latin typeface="Calibri"/>
              </a:rPr>
              <a:t>Base de données NoSQL  </a:t>
            </a:r>
            <a:r>
              <a:rPr lang="fr-FR" sz="95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Centralisation dans MongoDB</a:t>
            </a: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20"/>
          <p:cNvSpPr/>
          <p:nvPr/>
        </p:nvSpPr>
        <p:spPr>
          <a:xfrm>
            <a:off x="4754880" y="3831480"/>
            <a:ext cx="237240" cy="237240"/>
          </a:xfr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1"/>
          <p:cNvSpPr/>
          <p:nvPr/>
        </p:nvSpPr>
        <p:spPr>
          <a:xfrm>
            <a:off x="4754880" y="383148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✓</a:t>
            </a:r>
            <a:endParaRPr lang="fr-FR" sz="900" b="0" u="none" strike="noStrike" noProof="0" dirty="0">
              <a:solidFill>
                <a:srgbClr val="02809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2"/>
          <p:cNvSpPr/>
          <p:nvPr/>
        </p:nvSpPr>
        <p:spPr>
          <a:xfrm>
            <a:off x="5074920" y="377640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0C1D2D"/>
                </a:solidFill>
                <a:effectLst/>
                <a:uFillTx/>
                <a:latin typeface="Calibri"/>
              </a:rPr>
              <a:t>Tableaux de bord Power BI  </a:t>
            </a:r>
            <a:r>
              <a:rPr lang="fr-FR" sz="95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Suivi interactif des performances</a:t>
            </a: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3"/>
          <p:cNvSpPr/>
          <p:nvPr/>
        </p:nvSpPr>
        <p:spPr>
          <a:xfrm>
            <a:off x="457200" y="4361760"/>
            <a:ext cx="237240" cy="237240"/>
          </a:xfr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4"/>
          <p:cNvSpPr/>
          <p:nvPr/>
        </p:nvSpPr>
        <p:spPr>
          <a:xfrm>
            <a:off x="457200" y="436176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✓</a:t>
            </a:r>
            <a:endParaRPr lang="fr-FR" sz="900" b="0" u="none" strike="noStrike" noProof="0" dirty="0">
              <a:solidFill>
                <a:srgbClr val="02809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5"/>
          <p:cNvSpPr/>
          <p:nvPr/>
        </p:nvSpPr>
        <p:spPr>
          <a:xfrm>
            <a:off x="777240" y="430668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0C1D2D"/>
                </a:solidFill>
                <a:effectLst/>
                <a:uFillTx/>
                <a:latin typeface="Calibri"/>
              </a:rPr>
              <a:t>Identifier la rentabilité  </a:t>
            </a:r>
            <a:r>
              <a:rPr lang="fr-FR" sz="95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Produits &amp; services les plus profitables</a:t>
            </a: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26"/>
          <p:cNvSpPr/>
          <p:nvPr/>
        </p:nvSpPr>
        <p:spPr>
          <a:xfrm>
            <a:off x="4754880" y="4361760"/>
            <a:ext cx="237240" cy="237240"/>
          </a:xfr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7"/>
          <p:cNvSpPr/>
          <p:nvPr/>
        </p:nvSpPr>
        <p:spPr>
          <a:xfrm>
            <a:off x="4754880" y="436176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✓</a:t>
            </a:r>
            <a:endParaRPr lang="fr-FR" sz="900" b="0" u="none" strike="noStrike" noProof="0" dirty="0">
              <a:solidFill>
                <a:srgbClr val="02809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8"/>
          <p:cNvSpPr/>
          <p:nvPr/>
        </p:nvSpPr>
        <p:spPr>
          <a:xfrm>
            <a:off x="5074920" y="430668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0C1D2D"/>
                </a:solidFill>
                <a:effectLst/>
                <a:uFillTx/>
                <a:latin typeface="Calibri"/>
              </a:rPr>
              <a:t>Analyser les tendances  </a:t>
            </a:r>
            <a:r>
              <a:rPr lang="fr-FR" sz="95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Périodes fortes/faibles, comportements clients</a:t>
            </a: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0"/>
          <p:cNvSpPr/>
          <p:nvPr/>
        </p:nvSpPr>
        <p:spPr>
          <a:xfrm>
            <a:off x="457200" y="228600"/>
            <a:ext cx="2011320" cy="2739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457200" y="22860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00" b="1" u="none" strike="noStrike" noProof="0" dirty="0">
                <a:solidFill>
                  <a:srgbClr val="FFFFFF"/>
                </a:solidFill>
                <a:effectLst/>
                <a:uFillTx/>
                <a:latin typeface="Calibri"/>
              </a:rPr>
              <a:t>03 — ARCHITECTURE DE LA SOLUTION</a:t>
            </a:r>
            <a:endParaRPr lang="fr-FR" sz="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"/>
          <p:cNvSpPr/>
          <p:nvPr/>
        </p:nvSpPr>
        <p:spPr>
          <a:xfrm>
            <a:off x="457200" y="5670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2400" b="1" u="none" strike="noStrike" noProof="0" dirty="0">
                <a:solidFill>
                  <a:srgbClr val="0C1D2D"/>
                </a:solidFill>
                <a:effectLst/>
                <a:uFillTx/>
                <a:latin typeface="Calibri"/>
              </a:rPr>
              <a:t>Pipeline Analytique de Bout en Bout</a:t>
            </a:r>
            <a:endParaRPr lang="fr-FR" sz="2400" b="0" u="none" strike="noStrike" noProof="0" dirty="0">
              <a:solidFill>
                <a:srgbClr val="0C1D2D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3"/>
          <p:cNvSpPr/>
          <p:nvPr/>
        </p:nvSpPr>
        <p:spPr>
          <a:xfrm>
            <a:off x="457200" y="1188720"/>
            <a:ext cx="1462680" cy="2651400"/>
          </a:xfrm>
          <a:prstGeom prst="roundRect">
            <a:avLst>
              <a:gd name="adj" fmla="val 6250"/>
            </a:avLst>
          </a:prstGeom>
          <a:solidFill>
            <a:schemeClr val="accent5">
              <a:lumMod val="50000"/>
            </a:schemeClr>
          </a:solidFill>
          <a:ln w="12700">
            <a:solidFill>
              <a:srgbClr val="0D1B4B"/>
            </a:solidFill>
            <a:round/>
          </a:ln>
          <a:effectLst>
            <a:outerShdw blurRad="101520" dist="25455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4"/>
          <p:cNvSpPr/>
          <p:nvPr/>
        </p:nvSpPr>
        <p:spPr>
          <a:xfrm rot="5400000">
            <a:off x="1956960" y="2194560"/>
            <a:ext cx="200880" cy="365400"/>
          </a:xfrm>
          <a:prstGeom prst="triangle">
            <a:avLst>
              <a:gd name="adj" fmla="val 50000"/>
            </a:avLst>
          </a:prstGeom>
          <a:solidFill>
            <a:srgbClr val="CBD5E0"/>
          </a:solidFill>
          <a:ln w="1270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457200" y="1874520"/>
            <a:ext cx="14626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FFFFFF"/>
                </a:solidFill>
                <a:effectLst/>
                <a:uFillTx/>
                <a:latin typeface="Calibri"/>
              </a:rPr>
              <a:t>Sources de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FFFFFF"/>
                </a:solidFill>
                <a:effectLst/>
                <a:uFillTx/>
                <a:latin typeface="Calibri"/>
              </a:rPr>
              <a:t>Données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457200" y="2514600"/>
            <a:ext cx="146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50" b="0" u="none" strike="noStrike" noProof="0" dirty="0">
                <a:solidFill>
                  <a:srgbClr val="D0EAF5"/>
                </a:solidFill>
                <a:effectLst/>
                <a:uFillTx/>
                <a:latin typeface="Calibri"/>
              </a:rPr>
              <a:t>CRM Odoo</a:t>
            </a:r>
            <a:endParaRPr lang="fr-FR" sz="8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50" b="0" u="none" strike="noStrike" noProof="0" dirty="0">
                <a:solidFill>
                  <a:srgbClr val="D0EAF5"/>
                </a:solidFill>
                <a:effectLst/>
                <a:uFillTx/>
                <a:latin typeface="Calibri"/>
              </a:rPr>
              <a:t>Fichiers Excel</a:t>
            </a:r>
            <a:endParaRPr lang="fr-FR" sz="8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7"/>
          <p:cNvSpPr/>
          <p:nvPr/>
        </p:nvSpPr>
        <p:spPr>
          <a:xfrm>
            <a:off x="2194560" y="1188720"/>
            <a:ext cx="1462680" cy="2651400"/>
          </a:xfrm>
          <a:prstGeom prst="roundRect">
            <a:avLst>
              <a:gd name="adj" fmla="val 6250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  <a:effectLst>
            <a:outerShdw blurRad="101520" dist="25455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8"/>
          <p:cNvSpPr/>
          <p:nvPr/>
        </p:nvSpPr>
        <p:spPr>
          <a:xfrm rot="5400000">
            <a:off x="3694320" y="2194560"/>
            <a:ext cx="200880" cy="365400"/>
          </a:xfrm>
          <a:prstGeom prst="triangle">
            <a:avLst>
              <a:gd name="adj" fmla="val 50000"/>
            </a:avLst>
          </a:prstGeom>
          <a:solidFill>
            <a:srgbClr val="CBD5E0"/>
          </a:solidFill>
          <a:ln w="1270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9"/>
          <p:cNvSpPr/>
          <p:nvPr/>
        </p:nvSpPr>
        <p:spPr>
          <a:xfrm>
            <a:off x="2194560" y="1874520"/>
            <a:ext cx="14626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FFFFFF"/>
                </a:solidFill>
                <a:effectLst/>
                <a:uFillTx/>
                <a:latin typeface="Calibri"/>
              </a:rPr>
              <a:t>Prétraitement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FFFFFF"/>
                </a:solidFill>
                <a:effectLst/>
                <a:uFillTx/>
                <a:latin typeface="Calibri"/>
              </a:rPr>
              <a:t>Python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0"/>
          <p:cNvSpPr/>
          <p:nvPr/>
        </p:nvSpPr>
        <p:spPr>
          <a:xfrm>
            <a:off x="2194560" y="2514600"/>
            <a:ext cx="146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50" b="0" u="none" strike="noStrike" noProof="0" dirty="0">
                <a:solidFill>
                  <a:srgbClr val="D0EAF5"/>
                </a:solidFill>
                <a:effectLst/>
                <a:uFillTx/>
                <a:latin typeface="Calibri"/>
              </a:rPr>
              <a:t>Nettoyage</a:t>
            </a:r>
            <a:endParaRPr lang="fr-FR" sz="8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50" b="0" u="none" strike="noStrike" noProof="0" dirty="0">
                <a:solidFill>
                  <a:srgbClr val="D0EAF5"/>
                </a:solidFill>
                <a:effectLst/>
                <a:uFillTx/>
                <a:latin typeface="Calibri"/>
              </a:rPr>
              <a:t>Normalisation</a:t>
            </a:r>
            <a:endParaRPr lang="fr-FR" sz="8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1"/>
          <p:cNvSpPr/>
          <p:nvPr/>
        </p:nvSpPr>
        <p:spPr>
          <a:xfrm>
            <a:off x="3931920" y="1188720"/>
            <a:ext cx="1462680" cy="2651400"/>
          </a:xfrm>
          <a:prstGeom prst="roundRect">
            <a:avLst>
              <a:gd name="adj" fmla="val 6250"/>
            </a:avLst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  <a:effectLst>
            <a:outerShdw blurRad="101520" dist="25455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2"/>
          <p:cNvSpPr/>
          <p:nvPr/>
        </p:nvSpPr>
        <p:spPr>
          <a:xfrm rot="5400000">
            <a:off x="5431680" y="2194560"/>
            <a:ext cx="200880" cy="365400"/>
          </a:xfrm>
          <a:prstGeom prst="triangle">
            <a:avLst>
              <a:gd name="adj" fmla="val 50000"/>
            </a:avLst>
          </a:prstGeom>
          <a:solidFill>
            <a:srgbClr val="CBD5E0"/>
          </a:solidFill>
          <a:ln w="1270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3"/>
          <p:cNvSpPr/>
          <p:nvPr/>
        </p:nvSpPr>
        <p:spPr>
          <a:xfrm>
            <a:off x="3931920" y="1874520"/>
            <a:ext cx="14626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FFFFFF"/>
                </a:solidFill>
                <a:effectLst/>
                <a:uFillTx/>
                <a:latin typeface="Calibri"/>
              </a:rPr>
              <a:t>MongoDB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FFFFFF"/>
                </a:solidFill>
                <a:effectLst/>
                <a:uFillTx/>
                <a:latin typeface="Calibri"/>
              </a:rPr>
              <a:t>NoSQL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4"/>
          <p:cNvSpPr/>
          <p:nvPr/>
        </p:nvSpPr>
        <p:spPr>
          <a:xfrm>
            <a:off x="3931920" y="2514600"/>
            <a:ext cx="146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50" b="0" u="none" strike="noStrike" noProof="0" dirty="0">
                <a:solidFill>
                  <a:srgbClr val="D0EAF5"/>
                </a:solidFill>
                <a:effectLst/>
                <a:uFillTx/>
                <a:latin typeface="Calibri"/>
              </a:rPr>
              <a:t>8 Collections</a:t>
            </a:r>
            <a:endParaRPr lang="fr-FR" sz="8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50" b="0" u="none" strike="noStrike" noProof="0" dirty="0">
                <a:solidFill>
                  <a:srgbClr val="D0EAF5"/>
                </a:solidFill>
                <a:effectLst/>
                <a:uFillTx/>
                <a:latin typeface="Calibri"/>
              </a:rPr>
              <a:t>Indexation</a:t>
            </a:r>
            <a:endParaRPr lang="fr-FR" sz="8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5"/>
          <p:cNvSpPr/>
          <p:nvPr/>
        </p:nvSpPr>
        <p:spPr>
          <a:xfrm>
            <a:off x="5669280" y="1188720"/>
            <a:ext cx="1462680" cy="2651400"/>
          </a:xfrm>
          <a:prstGeom prst="roundRect">
            <a:avLst>
              <a:gd name="adj" fmla="val 6250"/>
            </a:avLst>
          </a:prstGeom>
          <a:solidFill>
            <a:srgbClr val="065A82">
              <a:alpha val="97000"/>
            </a:srgbClr>
          </a:solidFill>
          <a:ln w="12700">
            <a:solidFill>
              <a:srgbClr val="065A82"/>
            </a:solidFill>
            <a:round/>
          </a:ln>
          <a:effectLst>
            <a:outerShdw blurRad="101520" dist="25455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6"/>
          <p:cNvSpPr/>
          <p:nvPr/>
        </p:nvSpPr>
        <p:spPr>
          <a:xfrm rot="5400000">
            <a:off x="7169040" y="2194560"/>
            <a:ext cx="200880" cy="365400"/>
          </a:xfrm>
          <a:prstGeom prst="triangle">
            <a:avLst>
              <a:gd name="adj" fmla="val 50000"/>
            </a:avLst>
          </a:prstGeom>
          <a:solidFill>
            <a:srgbClr val="CBD5E0"/>
          </a:solidFill>
          <a:ln w="1270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7"/>
          <p:cNvSpPr/>
          <p:nvPr/>
        </p:nvSpPr>
        <p:spPr>
          <a:xfrm>
            <a:off x="5669280" y="1874520"/>
            <a:ext cx="14626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FFFFFF"/>
                </a:solidFill>
                <a:effectLst/>
                <a:uFillTx/>
                <a:latin typeface="Calibri"/>
              </a:rPr>
              <a:t>Moteur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FFFFFF"/>
                </a:solidFill>
                <a:effectLst/>
                <a:uFillTx/>
                <a:latin typeface="Calibri"/>
              </a:rPr>
              <a:t>Analytique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8"/>
          <p:cNvSpPr/>
          <p:nvPr/>
        </p:nvSpPr>
        <p:spPr>
          <a:xfrm>
            <a:off x="5669280" y="2514600"/>
            <a:ext cx="146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50" b="0" u="none" strike="noStrike" noProof="0" dirty="0">
                <a:solidFill>
                  <a:srgbClr val="D0EAF5"/>
                </a:solidFill>
                <a:effectLst/>
                <a:uFillTx/>
                <a:latin typeface="Calibri"/>
              </a:rPr>
              <a:t>KPI + Scripts</a:t>
            </a:r>
            <a:endParaRPr lang="fr-FR" sz="8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50" b="0" u="none" strike="noStrike" noProof="0" dirty="0">
                <a:solidFill>
                  <a:srgbClr val="D0EAF5"/>
                </a:solidFill>
                <a:effectLst/>
                <a:uFillTx/>
                <a:latin typeface="Calibri"/>
              </a:rPr>
              <a:t>Python</a:t>
            </a:r>
            <a:endParaRPr lang="fr-FR" sz="8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9"/>
          <p:cNvSpPr/>
          <p:nvPr/>
        </p:nvSpPr>
        <p:spPr>
          <a:xfrm>
            <a:off x="7406640" y="1188720"/>
            <a:ext cx="1462680" cy="2651400"/>
          </a:xfrm>
          <a:prstGeom prst="roundRect">
            <a:avLst>
              <a:gd name="adj" fmla="val 6250"/>
            </a:avLst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  <a:effectLst>
            <a:outerShdw blurRad="101520" dist="25455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0"/>
          <p:cNvSpPr/>
          <p:nvPr/>
        </p:nvSpPr>
        <p:spPr>
          <a:xfrm>
            <a:off x="7406640" y="1874520"/>
            <a:ext cx="14626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0D1B4B"/>
                </a:solidFill>
                <a:effectLst/>
                <a:uFillTx/>
                <a:latin typeface="Calibri"/>
              </a:rPr>
              <a:t>Power BI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0D1B4B"/>
                </a:solidFill>
                <a:effectLst/>
                <a:uFillTx/>
                <a:latin typeface="Calibri"/>
              </a:rPr>
              <a:t>Dashboards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1"/>
          <p:cNvSpPr/>
          <p:nvPr/>
        </p:nvSpPr>
        <p:spPr>
          <a:xfrm>
            <a:off x="7406640" y="2514600"/>
            <a:ext cx="146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50" b="0" u="none" strike="noStrike" noProof="0" dirty="0">
                <a:solidFill>
                  <a:srgbClr val="1A2035"/>
                </a:solidFill>
                <a:effectLst/>
                <a:uFillTx/>
                <a:latin typeface="Calibri"/>
              </a:rPr>
              <a:t>5 Dashboards</a:t>
            </a:r>
            <a:endParaRPr lang="fr-FR" sz="8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50" b="0" u="none" strike="noStrike" noProof="0" dirty="0">
                <a:solidFill>
                  <a:srgbClr val="1A2035"/>
                </a:solidFill>
                <a:effectLst/>
                <a:uFillTx/>
                <a:latin typeface="Calibri"/>
              </a:rPr>
              <a:t>Interactifs</a:t>
            </a:r>
            <a:endParaRPr lang="fr-FR" sz="8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2"/>
          <p:cNvSpPr/>
          <p:nvPr/>
        </p:nvSpPr>
        <p:spPr>
          <a:xfrm>
            <a:off x="457200" y="397764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u="none" strike="noStrike" noProof="0" dirty="0">
                <a:solidFill>
                  <a:srgbClr val="0C1D2D"/>
                </a:solidFill>
                <a:effectLst/>
                <a:uFillTx/>
                <a:latin typeface="Calibri"/>
              </a:rPr>
              <a:t>Pourquoi cette architecture ?</a:t>
            </a:r>
            <a:endParaRPr lang="fr-FR" sz="1200" b="0" u="none" strike="noStrike" noProof="0" dirty="0">
              <a:solidFill>
                <a:srgbClr val="0C1D2D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23"/>
          <p:cNvSpPr/>
          <p:nvPr/>
        </p:nvSpPr>
        <p:spPr>
          <a:xfrm>
            <a:off x="457200" y="4343400"/>
            <a:ext cx="4023000" cy="59400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4"/>
          <p:cNvSpPr/>
          <p:nvPr/>
        </p:nvSpPr>
        <p:spPr>
          <a:xfrm>
            <a:off x="594360" y="438912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🔗 Centralisation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5"/>
          <p:cNvSpPr/>
          <p:nvPr/>
        </p:nvSpPr>
        <p:spPr>
          <a:xfrm>
            <a:off x="594360" y="463608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Toutes sources regroupées en une base unique</a:t>
            </a:r>
            <a:endParaRPr lang="fr-FR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6"/>
          <p:cNvSpPr/>
          <p:nvPr/>
        </p:nvSpPr>
        <p:spPr>
          <a:xfrm>
            <a:off x="4663440" y="4343400"/>
            <a:ext cx="4023000" cy="59400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7"/>
          <p:cNvSpPr/>
          <p:nvPr/>
        </p:nvSpPr>
        <p:spPr>
          <a:xfrm>
            <a:off x="4800600" y="438912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⚡ Flexibilité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8"/>
          <p:cNvSpPr/>
          <p:nvPr/>
        </p:nvSpPr>
        <p:spPr>
          <a:xfrm>
            <a:off x="4800600" y="463608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MongoDB adapte son schéma aux besoins évolutifs</a:t>
            </a:r>
            <a:endParaRPr lang="fr-FR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29"/>
          <p:cNvSpPr/>
          <p:nvPr/>
        </p:nvSpPr>
        <p:spPr>
          <a:xfrm>
            <a:off x="457200" y="4343400"/>
            <a:ext cx="4023000" cy="59400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30"/>
          <p:cNvSpPr/>
          <p:nvPr/>
        </p:nvSpPr>
        <p:spPr>
          <a:xfrm>
            <a:off x="993120" y="4407480"/>
            <a:ext cx="1145063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Automatisation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31"/>
          <p:cNvSpPr/>
          <p:nvPr/>
        </p:nvSpPr>
        <p:spPr>
          <a:xfrm>
            <a:off x="594360" y="463608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Scripts Python exécutent traitements sans intervention</a:t>
            </a:r>
            <a:endParaRPr lang="fr-FR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32"/>
          <p:cNvSpPr/>
          <p:nvPr/>
        </p:nvSpPr>
        <p:spPr>
          <a:xfrm>
            <a:off x="4663440" y="4343400"/>
            <a:ext cx="4023000" cy="59400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33"/>
          <p:cNvSpPr/>
          <p:nvPr/>
        </p:nvSpPr>
        <p:spPr>
          <a:xfrm>
            <a:off x="5151062" y="4407480"/>
            <a:ext cx="1036435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 Scalabilité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4"/>
          <p:cNvSpPr/>
          <p:nvPr/>
        </p:nvSpPr>
        <p:spPr>
          <a:xfrm>
            <a:off x="4800600" y="463608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Intégration aisée de nouvelles sources ou analyses</a:t>
            </a:r>
            <a:endParaRPr lang="fr-FR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75B0CBB-0BBF-889D-9778-5483DD7B2C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89" y="4332420"/>
            <a:ext cx="360000" cy="3600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1E04B003-3548-B8C0-E697-17434C728C7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4332420"/>
            <a:ext cx="360000" cy="36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0"/>
          <p:cNvSpPr/>
          <p:nvPr/>
        </p:nvSpPr>
        <p:spPr>
          <a:xfrm>
            <a:off x="457200" y="228600"/>
            <a:ext cx="2011320" cy="2739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"/>
          <p:cNvSpPr/>
          <p:nvPr/>
        </p:nvSpPr>
        <p:spPr>
          <a:xfrm>
            <a:off x="457200" y="22860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00" b="1" u="none" strike="noStrike" noProof="0" dirty="0">
                <a:solidFill>
                  <a:srgbClr val="FFFFFF"/>
                </a:solidFill>
                <a:effectLst/>
                <a:uFillTx/>
                <a:latin typeface="Calibri"/>
              </a:rPr>
              <a:t>04 — IMPLÉMENTATION TECHNIQUE</a:t>
            </a:r>
            <a:endParaRPr lang="fr-FR" sz="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"/>
          <p:cNvSpPr/>
          <p:nvPr/>
        </p:nvSpPr>
        <p:spPr>
          <a:xfrm>
            <a:off x="457200" y="5670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2400" b="1" u="none" strike="noStrike" noProof="0" dirty="0">
                <a:solidFill>
                  <a:srgbClr val="0C1D2D"/>
                </a:solidFill>
                <a:effectLst/>
                <a:uFillTx/>
                <a:latin typeface="Calibri"/>
              </a:rPr>
              <a:t>Les 4 Phases du Projet</a:t>
            </a:r>
            <a:endParaRPr lang="fr-FR" sz="2400" b="0" u="none" strike="noStrike" noProof="0" dirty="0">
              <a:solidFill>
                <a:srgbClr val="0C1D2D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3"/>
          <p:cNvSpPr/>
          <p:nvPr/>
        </p:nvSpPr>
        <p:spPr>
          <a:xfrm>
            <a:off x="457200" y="1234440"/>
            <a:ext cx="4023000" cy="14626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4"/>
          <p:cNvSpPr/>
          <p:nvPr/>
        </p:nvSpPr>
        <p:spPr>
          <a:xfrm>
            <a:off x="457200" y="1234440"/>
            <a:ext cx="4023000" cy="328680"/>
          </a:xfrm>
          <a:prstGeom prst="roundRect">
            <a:avLst>
              <a:gd name="adj" fmla="val 27778"/>
            </a:avLst>
          </a:prstGeom>
          <a:solidFill>
            <a:schemeClr val="accent5">
              <a:lumMod val="50000"/>
            </a:schemeClr>
          </a:solidFill>
          <a:ln w="12700">
            <a:solidFill>
              <a:srgbClr val="0D1B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5"/>
          <p:cNvSpPr/>
          <p:nvPr/>
        </p:nvSpPr>
        <p:spPr>
          <a:xfrm>
            <a:off x="567000" y="1280160"/>
            <a:ext cx="37486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FFFFFF"/>
                </a:solidFill>
                <a:effectLst/>
                <a:uFillTx/>
                <a:latin typeface="Calibri"/>
              </a:rPr>
              <a:t>Semaine 1  —  Collecte &amp; Gouvernance des données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6"/>
          <p:cNvSpPr/>
          <p:nvPr/>
        </p:nvSpPr>
        <p:spPr>
          <a:xfrm>
            <a:off x="594360" y="161856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0D1B4B"/>
                </a:solidFill>
                <a:effectLst/>
                <a:uFillTx/>
                <a:latin typeface="Calibri"/>
              </a:rPr>
              <a:t>› </a:t>
            </a:r>
            <a:r>
              <a:rPr lang="fr-FR" sz="950" b="0" u="none" strike="noStrike" noProof="0" dirty="0">
                <a:solidFill>
                  <a:srgbClr val="1A2035"/>
                </a:solidFill>
                <a:effectLst/>
                <a:uFillTx/>
                <a:latin typeface="Calibri"/>
              </a:rPr>
              <a:t>Cartographie des sources (CRM, Excel, ventes, clients)</a:t>
            </a: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7"/>
          <p:cNvSpPr/>
          <p:nvPr/>
        </p:nvSpPr>
        <p:spPr>
          <a:xfrm>
            <a:off x="594360" y="196596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0D1B4B"/>
                </a:solidFill>
                <a:effectLst/>
                <a:uFillTx/>
                <a:latin typeface="Calibri"/>
              </a:rPr>
              <a:t>› </a:t>
            </a:r>
            <a:r>
              <a:rPr lang="fr-FR" sz="950" b="0" u="none" strike="noStrike" noProof="0" dirty="0">
                <a:solidFill>
                  <a:srgbClr val="1A2035"/>
                </a:solidFill>
                <a:effectLst/>
                <a:uFillTx/>
                <a:latin typeface="Calibri"/>
              </a:rPr>
              <a:t>Définition des KPI et dictionnaire de données</a:t>
            </a: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8"/>
          <p:cNvSpPr/>
          <p:nvPr/>
        </p:nvSpPr>
        <p:spPr>
          <a:xfrm>
            <a:off x="594360" y="231336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0D1B4B"/>
                </a:solidFill>
                <a:effectLst/>
                <a:uFillTx/>
                <a:latin typeface="Calibri"/>
              </a:rPr>
              <a:t>› </a:t>
            </a:r>
            <a:r>
              <a:rPr lang="fr-FR" sz="950" b="0" u="none" strike="noStrike" noProof="0" dirty="0">
                <a:solidFill>
                  <a:srgbClr val="1A2035"/>
                </a:solidFill>
                <a:effectLst/>
                <a:uFillTx/>
                <a:latin typeface="Calibri"/>
              </a:rPr>
              <a:t>Règles de qualité et de gouvernance</a:t>
            </a: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9"/>
          <p:cNvSpPr/>
          <p:nvPr/>
        </p:nvSpPr>
        <p:spPr>
          <a:xfrm>
            <a:off x="4709160" y="1234440"/>
            <a:ext cx="4023000" cy="14626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0"/>
          <p:cNvSpPr/>
          <p:nvPr/>
        </p:nvSpPr>
        <p:spPr>
          <a:xfrm>
            <a:off x="4709160" y="1234440"/>
            <a:ext cx="4023000" cy="328680"/>
          </a:xfrm>
          <a:prstGeom prst="roundRect">
            <a:avLst>
              <a:gd name="adj" fmla="val 27778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1"/>
          <p:cNvSpPr/>
          <p:nvPr/>
        </p:nvSpPr>
        <p:spPr>
          <a:xfrm>
            <a:off x="4818960" y="1280160"/>
            <a:ext cx="37486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FFFFFF"/>
                </a:solidFill>
                <a:effectLst/>
                <a:uFillTx/>
                <a:latin typeface="Calibri"/>
              </a:rPr>
              <a:t>Semaine 2  —  Architecture &amp; Pipeline ETL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2"/>
          <p:cNvSpPr/>
          <p:nvPr/>
        </p:nvSpPr>
        <p:spPr>
          <a:xfrm>
            <a:off x="4846320" y="161856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› </a:t>
            </a:r>
            <a:r>
              <a:rPr lang="fr-FR" sz="950" b="0" u="none" strike="noStrike" noProof="0" dirty="0">
                <a:solidFill>
                  <a:srgbClr val="1A2035"/>
                </a:solidFill>
                <a:effectLst/>
                <a:uFillTx/>
                <a:latin typeface="Calibri"/>
              </a:rPr>
              <a:t>Conception schéma logique MongoDB</a:t>
            </a: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3"/>
          <p:cNvSpPr/>
          <p:nvPr/>
        </p:nvSpPr>
        <p:spPr>
          <a:xfrm>
            <a:off x="4846320" y="196596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› </a:t>
            </a:r>
            <a:r>
              <a:rPr lang="fr-FR" sz="950" b="0" u="none" strike="noStrike" noProof="0" dirty="0">
                <a:solidFill>
                  <a:srgbClr val="1A2035"/>
                </a:solidFill>
                <a:effectLst/>
                <a:uFillTx/>
                <a:latin typeface="Calibri"/>
              </a:rPr>
              <a:t>Scripts Python (Pandas) pour nettoyage</a:t>
            </a: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4"/>
          <p:cNvSpPr/>
          <p:nvPr/>
        </p:nvSpPr>
        <p:spPr>
          <a:xfrm>
            <a:off x="4846320" y="231336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› </a:t>
            </a:r>
            <a:r>
              <a:rPr lang="fr-FR" sz="950" b="0" u="none" strike="noStrike" noProof="0" dirty="0">
                <a:solidFill>
                  <a:srgbClr val="1A2035"/>
                </a:solidFill>
                <a:effectLst/>
                <a:uFillTx/>
                <a:latin typeface="Calibri"/>
              </a:rPr>
              <a:t>Pipelines d'ingestion et tests</a:t>
            </a: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5"/>
          <p:cNvSpPr/>
          <p:nvPr/>
        </p:nvSpPr>
        <p:spPr>
          <a:xfrm>
            <a:off x="457200" y="2834640"/>
            <a:ext cx="4023000" cy="14626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6"/>
          <p:cNvSpPr/>
          <p:nvPr/>
        </p:nvSpPr>
        <p:spPr>
          <a:xfrm>
            <a:off x="457200" y="2834640"/>
            <a:ext cx="4023000" cy="328680"/>
          </a:xfrm>
          <a:prstGeom prst="roundRect">
            <a:avLst>
              <a:gd name="adj" fmla="val 27778"/>
            </a:avLst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7"/>
          <p:cNvSpPr/>
          <p:nvPr/>
        </p:nvSpPr>
        <p:spPr>
          <a:xfrm>
            <a:off x="567000" y="2880360"/>
            <a:ext cx="37486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FFFFFF"/>
                </a:solidFill>
                <a:effectLst/>
                <a:uFillTx/>
                <a:latin typeface="Calibri"/>
              </a:rPr>
              <a:t>Semaine 3  —  Développement Dashboards &amp; Analyses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8"/>
          <p:cNvSpPr/>
          <p:nvPr/>
        </p:nvSpPr>
        <p:spPr>
          <a:xfrm>
            <a:off x="594360" y="321876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1C7293"/>
                </a:solidFill>
                <a:effectLst/>
                <a:uFillTx/>
                <a:latin typeface="Calibri"/>
              </a:rPr>
              <a:t>› </a:t>
            </a:r>
            <a:r>
              <a:rPr lang="fr-FR" sz="950" b="0" u="none" strike="noStrike" noProof="0" dirty="0">
                <a:solidFill>
                  <a:srgbClr val="1A2035"/>
                </a:solidFill>
                <a:effectLst/>
                <a:uFillTx/>
                <a:latin typeface="Calibri"/>
              </a:rPr>
              <a:t>Tableaux de bord Power BI interactifs</a:t>
            </a: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9"/>
          <p:cNvSpPr/>
          <p:nvPr/>
        </p:nvSpPr>
        <p:spPr>
          <a:xfrm>
            <a:off x="594360" y="356616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1C7293"/>
                </a:solidFill>
                <a:effectLst/>
                <a:uFillTx/>
                <a:latin typeface="Calibri"/>
              </a:rPr>
              <a:t>› </a:t>
            </a:r>
            <a:r>
              <a:rPr lang="fr-FR" sz="950" b="0" u="none" strike="noStrike" noProof="0" dirty="0">
                <a:solidFill>
                  <a:srgbClr val="1A2035"/>
                </a:solidFill>
                <a:effectLst/>
                <a:uFillTx/>
                <a:latin typeface="Calibri"/>
              </a:rPr>
              <a:t>Calcul des KPI (CA, conversion, panier moyen…)</a:t>
            </a: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0"/>
          <p:cNvSpPr/>
          <p:nvPr/>
        </p:nvSpPr>
        <p:spPr>
          <a:xfrm>
            <a:off x="594360" y="391356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1C7293"/>
                </a:solidFill>
                <a:effectLst/>
                <a:uFillTx/>
                <a:latin typeface="Calibri"/>
              </a:rPr>
              <a:t>› </a:t>
            </a:r>
            <a:r>
              <a:rPr lang="fr-FR" sz="950" b="0" u="none" strike="noStrike" noProof="0" dirty="0">
                <a:solidFill>
                  <a:srgbClr val="1A2035"/>
                </a:solidFill>
                <a:effectLst/>
                <a:uFillTx/>
                <a:latin typeface="Calibri"/>
              </a:rPr>
              <a:t>EDA croisées, segmentation, tendances temporelles</a:t>
            </a: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21"/>
          <p:cNvSpPr/>
          <p:nvPr/>
        </p:nvSpPr>
        <p:spPr>
          <a:xfrm>
            <a:off x="4709160" y="2834640"/>
            <a:ext cx="4023000" cy="14626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22"/>
          <p:cNvSpPr/>
          <p:nvPr/>
        </p:nvSpPr>
        <p:spPr>
          <a:xfrm>
            <a:off x="4709160" y="2834640"/>
            <a:ext cx="4023000" cy="328680"/>
          </a:xfrm>
          <a:prstGeom prst="roundRect">
            <a:avLst>
              <a:gd name="adj" fmla="val 27778"/>
            </a:avLst>
          </a:prstGeom>
          <a:solidFill>
            <a:srgbClr val="065A82">
              <a:alpha val="97000"/>
            </a:srgbClr>
          </a:solidFill>
          <a:ln w="12700">
            <a:solidFill>
              <a:srgbClr val="065A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3"/>
          <p:cNvSpPr/>
          <p:nvPr/>
        </p:nvSpPr>
        <p:spPr>
          <a:xfrm>
            <a:off x="4818960" y="2880360"/>
            <a:ext cx="37486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FFFFFF"/>
                </a:solidFill>
                <a:effectLst/>
                <a:uFillTx/>
                <a:latin typeface="Calibri"/>
              </a:rPr>
              <a:t>Semaine 4  —  Validation &amp; Transfert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4"/>
          <p:cNvSpPr/>
          <p:nvPr/>
        </p:nvSpPr>
        <p:spPr>
          <a:xfrm>
            <a:off x="4846320" y="321876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065A82"/>
                </a:solidFill>
                <a:effectLst/>
                <a:uFillTx/>
                <a:latin typeface="Calibri"/>
              </a:rPr>
              <a:t>› </a:t>
            </a:r>
            <a:r>
              <a:rPr lang="fr-FR" sz="950" b="0" u="none" strike="noStrike" noProof="0" dirty="0">
                <a:solidFill>
                  <a:srgbClr val="1A2035"/>
                </a:solidFill>
                <a:effectLst/>
                <a:uFillTx/>
                <a:latin typeface="Calibri"/>
              </a:rPr>
              <a:t>Présentation aux parties prenantes</a:t>
            </a: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5"/>
          <p:cNvSpPr/>
          <p:nvPr/>
        </p:nvSpPr>
        <p:spPr>
          <a:xfrm>
            <a:off x="4846320" y="356616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065A82"/>
                </a:solidFill>
                <a:effectLst/>
                <a:uFillTx/>
                <a:latin typeface="Calibri"/>
              </a:rPr>
              <a:t>› </a:t>
            </a:r>
            <a:r>
              <a:rPr lang="fr-FR" sz="950" b="0" u="none" strike="noStrike" noProof="0" dirty="0">
                <a:solidFill>
                  <a:srgbClr val="1A2035"/>
                </a:solidFill>
                <a:effectLst/>
                <a:uFillTx/>
                <a:latin typeface="Calibri"/>
              </a:rPr>
              <a:t>Collecte de feedback et ajustements</a:t>
            </a: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6"/>
          <p:cNvSpPr/>
          <p:nvPr/>
        </p:nvSpPr>
        <p:spPr>
          <a:xfrm>
            <a:off x="4846320" y="391356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065A82"/>
                </a:solidFill>
                <a:effectLst/>
                <a:uFillTx/>
                <a:latin typeface="Calibri"/>
              </a:rPr>
              <a:t>› </a:t>
            </a:r>
            <a:r>
              <a:rPr lang="fr-FR" sz="950" b="0" u="none" strike="noStrike" noProof="0" dirty="0">
                <a:solidFill>
                  <a:srgbClr val="1A2035"/>
                </a:solidFill>
                <a:effectLst/>
                <a:uFillTx/>
                <a:latin typeface="Calibri"/>
              </a:rPr>
              <a:t>Dossier technique complet livré</a:t>
            </a: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27"/>
          <p:cNvSpPr/>
          <p:nvPr/>
        </p:nvSpPr>
        <p:spPr>
          <a:xfrm>
            <a:off x="457200" y="4663440"/>
            <a:ext cx="8229240" cy="347040"/>
          </a:xfrm>
          <a:prstGeom prst="roundRect">
            <a:avLst>
              <a:gd name="adj" fmla="val 31579"/>
            </a:avLst>
          </a:prstGeom>
          <a:solidFill>
            <a:srgbClr val="0C1D2D"/>
          </a:solidFill>
          <a:ln w="12700">
            <a:solidFill>
              <a:srgbClr val="0D1B4B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8"/>
          <p:cNvSpPr/>
          <p:nvPr/>
        </p:nvSpPr>
        <p:spPr>
          <a:xfrm>
            <a:off x="457200" y="466344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0" u="none" strike="noStrike" noProof="0" dirty="0">
                <a:solidFill>
                  <a:srgbClr val="FFFFFF"/>
                </a:solidFill>
                <a:effectLst/>
                <a:uFillTx/>
                <a:latin typeface="Calibri"/>
              </a:rPr>
              <a:t>🛠  Outils utilisés :   Python  ·  Pandas  ·  MongoDB  ·  Power BI  ·  Jupyter Notebook  ·  VSCode  ·  Odoo CRM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0"/>
          <p:cNvSpPr/>
          <p:nvPr/>
        </p:nvSpPr>
        <p:spPr>
          <a:xfrm>
            <a:off x="457200" y="228600"/>
            <a:ext cx="2011320" cy="2739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"/>
          <p:cNvSpPr/>
          <p:nvPr/>
        </p:nvSpPr>
        <p:spPr>
          <a:xfrm>
            <a:off x="457200" y="22860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00" b="1" u="none" strike="noStrike" noProof="0" dirty="0">
                <a:solidFill>
                  <a:srgbClr val="FFFFFF"/>
                </a:solidFill>
                <a:effectLst/>
                <a:uFillTx/>
                <a:latin typeface="Calibri"/>
              </a:rPr>
              <a:t>04 — BASE DE DONNÉES &amp; KPI</a:t>
            </a:r>
            <a:endParaRPr lang="fr-FR" sz="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"/>
          <p:cNvSpPr/>
          <p:nvPr/>
        </p:nvSpPr>
        <p:spPr>
          <a:xfrm>
            <a:off x="457200" y="5670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2400" b="1" u="none" strike="noStrike" noProof="0" dirty="0">
                <a:solidFill>
                  <a:srgbClr val="0C1D2D"/>
                </a:solidFill>
                <a:effectLst/>
                <a:uFillTx/>
                <a:latin typeface="Calibri"/>
              </a:rPr>
              <a:t>MongoDB &amp; Moteur Analytique</a:t>
            </a:r>
            <a:endParaRPr lang="fr-FR" sz="2400" b="0" u="none" strike="noStrike" noProof="0" dirty="0">
              <a:solidFill>
                <a:srgbClr val="0C1D2D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"/>
          <p:cNvSpPr/>
          <p:nvPr/>
        </p:nvSpPr>
        <p:spPr>
          <a:xfrm>
            <a:off x="457200" y="118872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1" u="none" strike="noStrike" noProof="0" dirty="0">
                <a:solidFill>
                  <a:srgbClr val="0C1D2D"/>
                </a:solidFill>
                <a:effectLst/>
                <a:uFillTx/>
                <a:latin typeface="Calibri"/>
              </a:rPr>
              <a:t>Collections MongoDB</a:t>
            </a:r>
            <a:endParaRPr lang="fr-FR" sz="1300" b="0" u="none" strike="noStrike" noProof="0" dirty="0">
              <a:solidFill>
                <a:srgbClr val="0C1D2D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4"/>
          <p:cNvSpPr/>
          <p:nvPr/>
        </p:nvSpPr>
        <p:spPr>
          <a:xfrm>
            <a:off x="457200" y="1600200"/>
            <a:ext cx="4023000" cy="356400"/>
          </a:xfrm>
          <a:prstGeom prst="rect">
            <a:avLst/>
          </a:prstGeom>
          <a:solidFill>
            <a:srgbClr val="E8EEF6"/>
          </a:solidFill>
          <a:ln w="635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5"/>
          <p:cNvSpPr/>
          <p:nvPr/>
        </p:nvSpPr>
        <p:spPr>
          <a:xfrm>
            <a:off x="594360" y="166428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50" b="1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opportunites</a:t>
            </a: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6"/>
          <p:cNvSpPr/>
          <p:nvPr/>
        </p:nvSpPr>
        <p:spPr>
          <a:xfrm>
            <a:off x="2423160" y="1664280"/>
            <a:ext cx="2011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Pipeline commercial CRM</a:t>
            </a:r>
            <a:endParaRPr lang="fr-FR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7"/>
          <p:cNvSpPr/>
          <p:nvPr/>
        </p:nvSpPr>
        <p:spPr>
          <a:xfrm>
            <a:off x="457200" y="1984320"/>
            <a:ext cx="4023000" cy="356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8"/>
          <p:cNvSpPr/>
          <p:nvPr/>
        </p:nvSpPr>
        <p:spPr>
          <a:xfrm>
            <a:off x="594360" y="204840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50" b="1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ventes</a:t>
            </a: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9"/>
          <p:cNvSpPr/>
          <p:nvPr/>
        </p:nvSpPr>
        <p:spPr>
          <a:xfrm>
            <a:off x="2423160" y="2048400"/>
            <a:ext cx="2011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Transactions réalisées</a:t>
            </a:r>
            <a:endParaRPr lang="fr-FR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0"/>
          <p:cNvSpPr/>
          <p:nvPr/>
        </p:nvSpPr>
        <p:spPr>
          <a:xfrm>
            <a:off x="457200" y="2368440"/>
            <a:ext cx="4023000" cy="356400"/>
          </a:xfrm>
          <a:prstGeom prst="rect">
            <a:avLst/>
          </a:prstGeom>
          <a:solidFill>
            <a:srgbClr val="E8EEF6"/>
          </a:solidFill>
          <a:ln w="635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1"/>
          <p:cNvSpPr/>
          <p:nvPr/>
        </p:nvSpPr>
        <p:spPr>
          <a:xfrm>
            <a:off x="594360" y="243216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50" b="1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clients</a:t>
            </a: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2"/>
          <p:cNvSpPr/>
          <p:nvPr/>
        </p:nvSpPr>
        <p:spPr>
          <a:xfrm>
            <a:off x="2423160" y="2432160"/>
            <a:ext cx="2011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Référentiel clients</a:t>
            </a:r>
            <a:endParaRPr lang="fr-FR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13"/>
          <p:cNvSpPr/>
          <p:nvPr/>
        </p:nvSpPr>
        <p:spPr>
          <a:xfrm>
            <a:off x="457200" y="2752200"/>
            <a:ext cx="4023000" cy="356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4"/>
          <p:cNvSpPr/>
          <p:nvPr/>
        </p:nvSpPr>
        <p:spPr>
          <a:xfrm>
            <a:off x="594360" y="281628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50" b="1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services_produits</a:t>
            </a: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5"/>
          <p:cNvSpPr/>
          <p:nvPr/>
        </p:nvSpPr>
        <p:spPr>
          <a:xfrm>
            <a:off x="2423160" y="2816280"/>
            <a:ext cx="2011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Catalogue des offres</a:t>
            </a:r>
            <a:endParaRPr lang="fr-FR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6"/>
          <p:cNvSpPr/>
          <p:nvPr/>
        </p:nvSpPr>
        <p:spPr>
          <a:xfrm>
            <a:off x="457200" y="3136320"/>
            <a:ext cx="4023000" cy="356400"/>
          </a:xfrm>
          <a:prstGeom prst="rect">
            <a:avLst/>
          </a:prstGeom>
          <a:solidFill>
            <a:srgbClr val="E8EEF6"/>
          </a:solidFill>
          <a:ln w="635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7"/>
          <p:cNvSpPr/>
          <p:nvPr/>
        </p:nvSpPr>
        <p:spPr>
          <a:xfrm>
            <a:off x="594360" y="320040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50" b="1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devis_commandes</a:t>
            </a: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8"/>
          <p:cNvSpPr/>
          <p:nvPr/>
        </p:nvSpPr>
        <p:spPr>
          <a:xfrm>
            <a:off x="2423160" y="3200400"/>
            <a:ext cx="2011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Processus avant-vente</a:t>
            </a:r>
            <a:endParaRPr lang="fr-FR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9"/>
          <p:cNvSpPr/>
          <p:nvPr/>
        </p:nvSpPr>
        <p:spPr>
          <a:xfrm>
            <a:off x="457200" y="3520440"/>
            <a:ext cx="4023000" cy="356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0"/>
          <p:cNvSpPr/>
          <p:nvPr/>
        </p:nvSpPr>
        <p:spPr>
          <a:xfrm>
            <a:off x="594360" y="358452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50" b="1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operations</a:t>
            </a: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1"/>
          <p:cNvSpPr/>
          <p:nvPr/>
        </p:nvSpPr>
        <p:spPr>
          <a:xfrm>
            <a:off x="2423160" y="3584520"/>
            <a:ext cx="2011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Charges &amp; opérations</a:t>
            </a:r>
            <a:endParaRPr lang="fr-FR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22"/>
          <p:cNvSpPr/>
          <p:nvPr/>
        </p:nvSpPr>
        <p:spPr>
          <a:xfrm>
            <a:off x="457200" y="3904560"/>
            <a:ext cx="4023000" cy="356400"/>
          </a:xfrm>
          <a:prstGeom prst="rect">
            <a:avLst/>
          </a:prstGeom>
          <a:solidFill>
            <a:srgbClr val="E8EEF6"/>
          </a:solidFill>
          <a:ln w="635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3"/>
          <p:cNvSpPr/>
          <p:nvPr/>
        </p:nvSpPr>
        <p:spPr>
          <a:xfrm>
            <a:off x="594360" y="396864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50" b="1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kpis</a:t>
            </a: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24"/>
          <p:cNvSpPr/>
          <p:nvPr/>
        </p:nvSpPr>
        <p:spPr>
          <a:xfrm>
            <a:off x="2423160" y="3968640"/>
            <a:ext cx="2011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Indicateurs calculés</a:t>
            </a:r>
            <a:endParaRPr lang="fr-FR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25"/>
          <p:cNvSpPr/>
          <p:nvPr/>
        </p:nvSpPr>
        <p:spPr>
          <a:xfrm>
            <a:off x="457200" y="4288680"/>
            <a:ext cx="4023000" cy="356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26"/>
          <p:cNvSpPr/>
          <p:nvPr/>
        </p:nvSpPr>
        <p:spPr>
          <a:xfrm>
            <a:off x="594360" y="435240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50" b="1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analyses</a:t>
            </a: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27"/>
          <p:cNvSpPr/>
          <p:nvPr/>
        </p:nvSpPr>
        <p:spPr>
          <a:xfrm>
            <a:off x="2423160" y="4352400"/>
            <a:ext cx="2011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Résultats analytiques</a:t>
            </a:r>
            <a:endParaRPr lang="fr-FR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28"/>
          <p:cNvSpPr/>
          <p:nvPr/>
        </p:nvSpPr>
        <p:spPr>
          <a:xfrm>
            <a:off x="4754880" y="118872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1" u="none" strike="noStrike" noProof="0" dirty="0">
                <a:solidFill>
                  <a:srgbClr val="0C1D2D"/>
                </a:solidFill>
                <a:effectLst/>
                <a:uFillTx/>
                <a:latin typeface="Calibri"/>
              </a:rPr>
              <a:t>Typologies de KPI calculés</a:t>
            </a:r>
            <a:endParaRPr lang="fr-FR" sz="1300" b="0" u="none" strike="noStrike" noProof="0" dirty="0">
              <a:solidFill>
                <a:srgbClr val="0C1D2D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29"/>
          <p:cNvSpPr/>
          <p:nvPr/>
        </p:nvSpPr>
        <p:spPr>
          <a:xfrm>
            <a:off x="4754880" y="1600200"/>
            <a:ext cx="3931560" cy="548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30"/>
          <p:cNvSpPr/>
          <p:nvPr/>
        </p:nvSpPr>
        <p:spPr>
          <a:xfrm>
            <a:off x="4754880" y="1600200"/>
            <a:ext cx="63720" cy="548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1"/>
          <p:cNvSpPr/>
          <p:nvPr/>
        </p:nvSpPr>
        <p:spPr>
          <a:xfrm>
            <a:off x="4937760" y="164592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0D1B4B"/>
                </a:solidFill>
                <a:effectLst/>
                <a:uFillTx/>
                <a:latin typeface="Calibri"/>
              </a:rPr>
              <a:t>KPI Commerciaux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32"/>
          <p:cNvSpPr/>
          <p:nvPr/>
        </p:nvSpPr>
        <p:spPr>
          <a:xfrm>
            <a:off x="4937760" y="187452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5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CA total, panier moyen, nbre ventes, top clients</a:t>
            </a:r>
            <a:endParaRPr lang="fr-FR" sz="8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33"/>
          <p:cNvSpPr/>
          <p:nvPr/>
        </p:nvSpPr>
        <p:spPr>
          <a:xfrm>
            <a:off x="4754880" y="2221920"/>
            <a:ext cx="3931560" cy="548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34"/>
          <p:cNvSpPr/>
          <p:nvPr/>
        </p:nvSpPr>
        <p:spPr>
          <a:xfrm>
            <a:off x="4754880" y="2221920"/>
            <a:ext cx="63720" cy="548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35"/>
          <p:cNvSpPr/>
          <p:nvPr/>
        </p:nvSpPr>
        <p:spPr>
          <a:xfrm>
            <a:off x="4937760" y="226764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0D1B4B"/>
                </a:solidFill>
                <a:effectLst/>
                <a:uFillTx/>
                <a:latin typeface="Calibri"/>
              </a:rPr>
              <a:t>KPI Financiers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36"/>
          <p:cNvSpPr/>
          <p:nvPr/>
        </p:nvSpPr>
        <p:spPr>
          <a:xfrm>
            <a:off x="4937760" y="249624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5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Marge brute, coûts, rentabilité, budget</a:t>
            </a:r>
            <a:endParaRPr lang="fr-FR" sz="8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37"/>
          <p:cNvSpPr/>
          <p:nvPr/>
        </p:nvSpPr>
        <p:spPr>
          <a:xfrm>
            <a:off x="4754880" y="2843640"/>
            <a:ext cx="3931560" cy="548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38"/>
          <p:cNvSpPr/>
          <p:nvPr/>
        </p:nvSpPr>
        <p:spPr>
          <a:xfrm>
            <a:off x="4754880" y="2843640"/>
            <a:ext cx="63720" cy="548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39"/>
          <p:cNvSpPr/>
          <p:nvPr/>
        </p:nvSpPr>
        <p:spPr>
          <a:xfrm>
            <a:off x="4937760" y="288936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0D1B4B"/>
                </a:solidFill>
                <a:effectLst/>
                <a:uFillTx/>
                <a:latin typeface="Calibri"/>
              </a:rPr>
              <a:t>KPI Clients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40"/>
          <p:cNvSpPr/>
          <p:nvPr/>
        </p:nvSpPr>
        <p:spPr>
          <a:xfrm>
            <a:off x="4937760" y="311796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5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Segmentation, fidélité, dépendance client</a:t>
            </a:r>
            <a:endParaRPr lang="fr-FR" sz="8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41"/>
          <p:cNvSpPr/>
          <p:nvPr/>
        </p:nvSpPr>
        <p:spPr>
          <a:xfrm>
            <a:off x="4754880" y="3465720"/>
            <a:ext cx="3931560" cy="548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42"/>
          <p:cNvSpPr/>
          <p:nvPr/>
        </p:nvSpPr>
        <p:spPr>
          <a:xfrm>
            <a:off x="4754880" y="3465720"/>
            <a:ext cx="63720" cy="548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43"/>
          <p:cNvSpPr/>
          <p:nvPr/>
        </p:nvSpPr>
        <p:spPr>
          <a:xfrm>
            <a:off x="4937760" y="351144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0D1B4B"/>
                </a:solidFill>
                <a:effectLst/>
                <a:uFillTx/>
                <a:latin typeface="Calibri"/>
              </a:rPr>
              <a:t>KPI Services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44"/>
          <p:cNvSpPr/>
          <p:nvPr/>
        </p:nvSpPr>
        <p:spPr>
          <a:xfrm>
            <a:off x="4937760" y="374004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5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Top services par CA, taux d'adoption</a:t>
            </a:r>
            <a:endParaRPr lang="fr-FR" sz="8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45"/>
          <p:cNvSpPr/>
          <p:nvPr/>
        </p:nvSpPr>
        <p:spPr>
          <a:xfrm>
            <a:off x="4754880" y="4087440"/>
            <a:ext cx="3931560" cy="548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46"/>
          <p:cNvSpPr/>
          <p:nvPr/>
        </p:nvSpPr>
        <p:spPr>
          <a:xfrm>
            <a:off x="4754880" y="4087440"/>
            <a:ext cx="63720" cy="548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47"/>
          <p:cNvSpPr/>
          <p:nvPr/>
        </p:nvSpPr>
        <p:spPr>
          <a:xfrm>
            <a:off x="4937760" y="413316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0D1B4B"/>
                </a:solidFill>
                <a:effectLst/>
                <a:uFillTx/>
                <a:latin typeface="Calibri"/>
              </a:rPr>
              <a:t>KPI Conversion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48"/>
          <p:cNvSpPr/>
          <p:nvPr/>
        </p:nvSpPr>
        <p:spPr>
          <a:xfrm>
            <a:off x="4937760" y="436176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5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Taux devis acceptés, pipeline commercial</a:t>
            </a:r>
            <a:endParaRPr lang="fr-FR" sz="8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49"/>
          <p:cNvSpPr/>
          <p:nvPr/>
        </p:nvSpPr>
        <p:spPr>
          <a:xfrm>
            <a:off x="4754880" y="4709160"/>
            <a:ext cx="3931560" cy="5482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50"/>
          <p:cNvSpPr/>
          <p:nvPr/>
        </p:nvSpPr>
        <p:spPr>
          <a:xfrm>
            <a:off x="4754880" y="4709160"/>
            <a:ext cx="63720" cy="548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51"/>
          <p:cNvSpPr/>
          <p:nvPr/>
        </p:nvSpPr>
        <p:spPr>
          <a:xfrm>
            <a:off x="4937760" y="475488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0D1B4B"/>
                </a:solidFill>
                <a:effectLst/>
                <a:uFillTx/>
                <a:latin typeface="Calibri"/>
              </a:rPr>
              <a:t>KPI Prédictifs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52"/>
          <p:cNvSpPr/>
          <p:nvPr/>
        </p:nvSpPr>
        <p:spPr>
          <a:xfrm>
            <a:off x="4937760" y="498348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5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Prévision CA, détection anomalies, alertes</a:t>
            </a:r>
            <a:endParaRPr lang="fr-FR" sz="8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0"/>
          <p:cNvSpPr/>
          <p:nvPr/>
        </p:nvSpPr>
        <p:spPr>
          <a:xfrm>
            <a:off x="457200" y="228600"/>
            <a:ext cx="2011320" cy="2739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"/>
          <p:cNvSpPr/>
          <p:nvPr/>
        </p:nvSpPr>
        <p:spPr>
          <a:xfrm>
            <a:off x="457200" y="22860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00" b="1" u="none" strike="noStrike" noProof="0" dirty="0">
                <a:solidFill>
                  <a:srgbClr val="FFFFFF"/>
                </a:solidFill>
                <a:effectLst/>
                <a:uFillTx/>
                <a:latin typeface="Calibri"/>
              </a:rPr>
              <a:t>05 — RÉSULTATS &amp; INDICATEURS CLÉS</a:t>
            </a:r>
            <a:endParaRPr lang="fr-FR" sz="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"/>
          <p:cNvSpPr/>
          <p:nvPr/>
        </p:nvSpPr>
        <p:spPr>
          <a:xfrm>
            <a:off x="457200" y="5670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2400" b="1" u="none" strike="noStrike" noProof="0" dirty="0">
                <a:solidFill>
                  <a:srgbClr val="0D1B4B"/>
                </a:solidFill>
                <a:effectLst/>
                <a:uFillTx/>
                <a:latin typeface="Calibri"/>
              </a:rPr>
              <a:t>Principaux KPI Obtenus</a:t>
            </a:r>
            <a:endParaRPr lang="fr-FR" sz="2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3"/>
          <p:cNvSpPr/>
          <p:nvPr/>
        </p:nvSpPr>
        <p:spPr>
          <a:xfrm>
            <a:off x="457200" y="1207080"/>
            <a:ext cx="1874160" cy="1188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4"/>
          <p:cNvSpPr/>
          <p:nvPr/>
        </p:nvSpPr>
        <p:spPr>
          <a:xfrm>
            <a:off x="457200" y="1207080"/>
            <a:ext cx="1874160" cy="63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5"/>
          <p:cNvSpPr/>
          <p:nvPr/>
        </p:nvSpPr>
        <p:spPr>
          <a:xfrm>
            <a:off x="548640" y="1344240"/>
            <a:ext cx="1691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2200" b="1" u="none" strike="noStrike" noProof="0" dirty="0">
                <a:solidFill>
                  <a:srgbClr val="0C1D2D"/>
                </a:solidFill>
                <a:effectLst/>
                <a:uFillTx/>
                <a:latin typeface="Calibri"/>
              </a:rPr>
              <a:t>1,37M FCFA</a:t>
            </a:r>
            <a:endParaRPr lang="fr-FR" sz="2200" b="0" u="none" strike="noStrike" noProof="0" dirty="0">
              <a:solidFill>
                <a:srgbClr val="0C1D2D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6"/>
          <p:cNvSpPr/>
          <p:nvPr/>
        </p:nvSpPr>
        <p:spPr>
          <a:xfrm>
            <a:off x="548640" y="1892880"/>
            <a:ext cx="1691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Chiffre d'affaires total</a:t>
            </a:r>
            <a:endParaRPr lang="fr-FR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7"/>
          <p:cNvSpPr/>
          <p:nvPr/>
        </p:nvSpPr>
        <p:spPr>
          <a:xfrm>
            <a:off x="2514600" y="1207080"/>
            <a:ext cx="1874160" cy="1188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8"/>
          <p:cNvSpPr/>
          <p:nvPr/>
        </p:nvSpPr>
        <p:spPr>
          <a:xfrm>
            <a:off x="2514600" y="1207080"/>
            <a:ext cx="1874160" cy="637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9"/>
          <p:cNvSpPr/>
          <p:nvPr/>
        </p:nvSpPr>
        <p:spPr>
          <a:xfrm>
            <a:off x="2606040" y="1344240"/>
            <a:ext cx="1691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2200" b="1" u="none" strike="noStrike" noProof="0" dirty="0">
                <a:solidFill>
                  <a:srgbClr val="0C1D2D"/>
                </a:solidFill>
                <a:effectLst/>
                <a:uFillTx/>
                <a:latin typeface="Calibri"/>
              </a:rPr>
              <a:t>93</a:t>
            </a:r>
            <a:endParaRPr lang="fr-FR" sz="2200" b="0" u="none" strike="noStrike" noProof="0" dirty="0">
              <a:solidFill>
                <a:srgbClr val="0C1D2D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0"/>
          <p:cNvSpPr/>
          <p:nvPr/>
        </p:nvSpPr>
        <p:spPr>
          <a:xfrm>
            <a:off x="2606040" y="1892880"/>
            <a:ext cx="1691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Opportunités CRM identifiées</a:t>
            </a:r>
            <a:endParaRPr lang="fr-FR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11"/>
          <p:cNvSpPr/>
          <p:nvPr/>
        </p:nvSpPr>
        <p:spPr>
          <a:xfrm>
            <a:off x="4572000" y="1207080"/>
            <a:ext cx="1874160" cy="1188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12"/>
          <p:cNvSpPr/>
          <p:nvPr/>
        </p:nvSpPr>
        <p:spPr>
          <a:xfrm>
            <a:off x="4572000" y="1207080"/>
            <a:ext cx="1874160" cy="63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3"/>
          <p:cNvSpPr/>
          <p:nvPr/>
        </p:nvSpPr>
        <p:spPr>
          <a:xfrm>
            <a:off x="4663440" y="1344240"/>
            <a:ext cx="1691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2200" b="1" u="none" strike="noStrike" noProof="0" dirty="0">
                <a:solidFill>
                  <a:srgbClr val="0C1D2D"/>
                </a:solidFill>
                <a:effectLst/>
                <a:uFillTx/>
                <a:latin typeface="Calibri"/>
              </a:rPr>
              <a:t>57,14%</a:t>
            </a:r>
            <a:endParaRPr lang="fr-FR" sz="2200" b="0" u="none" strike="noStrike" noProof="0" dirty="0">
              <a:solidFill>
                <a:srgbClr val="0C1D2D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4"/>
          <p:cNvSpPr/>
          <p:nvPr/>
        </p:nvSpPr>
        <p:spPr>
          <a:xfrm>
            <a:off x="4663440" y="1892880"/>
            <a:ext cx="1691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Taux de conversion devis</a:t>
            </a:r>
            <a:endParaRPr lang="fr-FR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15"/>
          <p:cNvSpPr/>
          <p:nvPr/>
        </p:nvSpPr>
        <p:spPr>
          <a:xfrm>
            <a:off x="6629400" y="1207080"/>
            <a:ext cx="1874160" cy="1188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16"/>
          <p:cNvSpPr/>
          <p:nvPr/>
        </p:nvSpPr>
        <p:spPr>
          <a:xfrm>
            <a:off x="6629400" y="1207080"/>
            <a:ext cx="1874160" cy="63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7"/>
          <p:cNvSpPr/>
          <p:nvPr/>
        </p:nvSpPr>
        <p:spPr>
          <a:xfrm>
            <a:off x="6720840" y="1344240"/>
            <a:ext cx="1691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2200" b="1" u="none" strike="noStrike" noProof="0" dirty="0">
                <a:solidFill>
                  <a:srgbClr val="0C1D2D"/>
                </a:solidFill>
                <a:effectLst/>
                <a:uFillTx/>
                <a:latin typeface="Calibri"/>
              </a:rPr>
              <a:t>28</a:t>
            </a:r>
            <a:endParaRPr lang="fr-FR" sz="2200" b="0" u="none" strike="noStrike" noProof="0" dirty="0">
              <a:solidFill>
                <a:srgbClr val="0C1D2D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8"/>
          <p:cNvSpPr/>
          <p:nvPr/>
        </p:nvSpPr>
        <p:spPr>
          <a:xfrm>
            <a:off x="6720840" y="1892880"/>
            <a:ext cx="1691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Devis émis (16 acceptés)</a:t>
            </a:r>
            <a:endParaRPr lang="fr-FR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19"/>
          <p:cNvSpPr/>
          <p:nvPr/>
        </p:nvSpPr>
        <p:spPr>
          <a:xfrm>
            <a:off x="457200" y="2487240"/>
            <a:ext cx="1874160" cy="1188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20"/>
          <p:cNvSpPr/>
          <p:nvPr/>
        </p:nvSpPr>
        <p:spPr>
          <a:xfrm>
            <a:off x="457200" y="2487240"/>
            <a:ext cx="1874160" cy="63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1"/>
          <p:cNvSpPr/>
          <p:nvPr/>
        </p:nvSpPr>
        <p:spPr>
          <a:xfrm>
            <a:off x="548640" y="2624400"/>
            <a:ext cx="1691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2200" b="1" u="none" strike="noStrike" noProof="0" dirty="0">
                <a:solidFill>
                  <a:srgbClr val="0C1D2D"/>
                </a:solidFill>
                <a:effectLst/>
                <a:uFillTx/>
                <a:latin typeface="Calibri"/>
              </a:rPr>
              <a:t>85K FCFA</a:t>
            </a:r>
            <a:endParaRPr lang="fr-FR" sz="2200" b="0" u="none" strike="noStrike" noProof="0" dirty="0">
              <a:solidFill>
                <a:srgbClr val="0C1D2D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22"/>
          <p:cNvSpPr/>
          <p:nvPr/>
        </p:nvSpPr>
        <p:spPr>
          <a:xfrm>
            <a:off x="548640" y="3173040"/>
            <a:ext cx="1691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Panier moyen / vente</a:t>
            </a:r>
            <a:endParaRPr lang="fr-FR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23"/>
          <p:cNvSpPr/>
          <p:nvPr/>
        </p:nvSpPr>
        <p:spPr>
          <a:xfrm>
            <a:off x="2514600" y="2487240"/>
            <a:ext cx="1874160" cy="1188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24"/>
          <p:cNvSpPr/>
          <p:nvPr/>
        </p:nvSpPr>
        <p:spPr>
          <a:xfrm>
            <a:off x="2514600" y="2487240"/>
            <a:ext cx="1874160" cy="63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5"/>
          <p:cNvSpPr/>
          <p:nvPr/>
        </p:nvSpPr>
        <p:spPr>
          <a:xfrm>
            <a:off x="2606040" y="2624400"/>
            <a:ext cx="1691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2200" b="1" u="none" strike="noStrike" noProof="0" dirty="0">
                <a:solidFill>
                  <a:srgbClr val="0C1D2D"/>
                </a:solidFill>
                <a:effectLst/>
                <a:uFillTx/>
                <a:latin typeface="Calibri"/>
              </a:rPr>
              <a:t>18%</a:t>
            </a:r>
            <a:endParaRPr lang="fr-FR" sz="2200" b="0" u="none" strike="noStrike" noProof="0" dirty="0">
              <a:solidFill>
                <a:srgbClr val="0C1D2D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26"/>
          <p:cNvSpPr/>
          <p:nvPr/>
        </p:nvSpPr>
        <p:spPr>
          <a:xfrm>
            <a:off x="2606040" y="3173040"/>
            <a:ext cx="1691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Taux conv. opportunités</a:t>
            </a:r>
            <a:endParaRPr lang="fr-FR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27"/>
          <p:cNvSpPr/>
          <p:nvPr/>
        </p:nvSpPr>
        <p:spPr>
          <a:xfrm>
            <a:off x="4572000" y="2487240"/>
            <a:ext cx="1874160" cy="1188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28"/>
          <p:cNvSpPr/>
          <p:nvPr/>
        </p:nvSpPr>
        <p:spPr>
          <a:xfrm>
            <a:off x="4572000" y="2487240"/>
            <a:ext cx="1874160" cy="63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29"/>
          <p:cNvSpPr/>
          <p:nvPr/>
        </p:nvSpPr>
        <p:spPr>
          <a:xfrm>
            <a:off x="4663440" y="2624400"/>
            <a:ext cx="1691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2200" b="1" u="none" strike="noStrike" noProof="0" dirty="0">
                <a:solidFill>
                  <a:srgbClr val="0C1D2D"/>
                </a:solidFill>
                <a:effectLst/>
                <a:uFillTx/>
                <a:latin typeface="Calibri"/>
              </a:rPr>
              <a:t>2,72M FCFA</a:t>
            </a:r>
            <a:endParaRPr lang="fr-FR" sz="2200" b="0" u="none" strike="noStrike" noProof="0" dirty="0">
              <a:solidFill>
                <a:srgbClr val="0C1D2D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30"/>
          <p:cNvSpPr/>
          <p:nvPr/>
        </p:nvSpPr>
        <p:spPr>
          <a:xfrm>
            <a:off x="4663440" y="3173040"/>
            <a:ext cx="1691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Dépenses totales</a:t>
            </a:r>
            <a:endParaRPr lang="fr-FR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31"/>
          <p:cNvSpPr/>
          <p:nvPr/>
        </p:nvSpPr>
        <p:spPr>
          <a:xfrm>
            <a:off x="6629400" y="2487240"/>
            <a:ext cx="1874160" cy="1188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32"/>
          <p:cNvSpPr/>
          <p:nvPr/>
        </p:nvSpPr>
        <p:spPr>
          <a:xfrm>
            <a:off x="6629400" y="2487240"/>
            <a:ext cx="1874160" cy="63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33"/>
          <p:cNvSpPr/>
          <p:nvPr/>
        </p:nvSpPr>
        <p:spPr>
          <a:xfrm>
            <a:off x="6720840" y="2624400"/>
            <a:ext cx="1691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2200" b="1" u="none" strike="noStrike" noProof="0" dirty="0">
                <a:solidFill>
                  <a:srgbClr val="0C1D2D"/>
                </a:solidFill>
                <a:effectLst/>
                <a:uFillTx/>
                <a:latin typeface="Calibri"/>
              </a:rPr>
              <a:t>-99%</a:t>
            </a:r>
            <a:endParaRPr lang="fr-FR" sz="2200" b="0" u="none" strike="noStrike" noProof="0" dirty="0">
              <a:solidFill>
                <a:srgbClr val="0C1D2D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34"/>
          <p:cNvSpPr/>
          <p:nvPr/>
        </p:nvSpPr>
        <p:spPr>
          <a:xfrm>
            <a:off x="6720840" y="3173040"/>
            <a:ext cx="1691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Marge brute actuelle</a:t>
            </a:r>
            <a:endParaRPr lang="fr-FR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35"/>
          <p:cNvSpPr/>
          <p:nvPr/>
        </p:nvSpPr>
        <p:spPr>
          <a:xfrm>
            <a:off x="457200" y="3794760"/>
            <a:ext cx="5028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100" b="1" u="none" strike="noStrike" noProof="0" dirty="0">
                <a:solidFill>
                  <a:srgbClr val="0C1D2D"/>
                </a:solidFill>
                <a:effectLst/>
                <a:uFillTx/>
                <a:latin typeface="Calibri"/>
              </a:rPr>
              <a:t>Top 3 Services Générateurs de CA</a:t>
            </a:r>
            <a:endParaRPr lang="fr-FR" sz="1100" b="0" u="none" strike="noStrike" noProof="0" dirty="0">
              <a:solidFill>
                <a:srgbClr val="0C1D2D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36"/>
          <p:cNvSpPr/>
          <p:nvPr/>
        </p:nvSpPr>
        <p:spPr>
          <a:xfrm>
            <a:off x="457200" y="4096440"/>
            <a:ext cx="5028840" cy="31068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37"/>
          <p:cNvSpPr/>
          <p:nvPr/>
        </p:nvSpPr>
        <p:spPr>
          <a:xfrm>
            <a:off x="940010" y="4137840"/>
            <a:ext cx="838085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50" b="1" u="none" strike="noStrike" noProof="0" dirty="0">
                <a:solidFill>
                  <a:srgbClr val="0D1B4B"/>
                </a:solidFill>
                <a:effectLst/>
                <a:uFillTx/>
                <a:latin typeface="Calibri"/>
              </a:rPr>
              <a:t> Importation</a:t>
            </a: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38"/>
          <p:cNvSpPr/>
          <p:nvPr/>
        </p:nvSpPr>
        <p:spPr>
          <a:xfrm>
            <a:off x="2697480" y="41421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50" b="1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689 382 FCFA</a:t>
            </a: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39"/>
          <p:cNvSpPr/>
          <p:nvPr/>
        </p:nvSpPr>
        <p:spPr>
          <a:xfrm>
            <a:off x="4160520" y="4187880"/>
            <a:ext cx="1096920" cy="127800"/>
          </a:xfrm>
          <a:prstGeom prst="rect">
            <a:avLst/>
          </a:prstGeom>
          <a:solidFill>
            <a:srgbClr val="E8EEF6"/>
          </a:solidFill>
          <a:ln w="12700">
            <a:solidFill>
              <a:srgbClr val="E8EE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40"/>
          <p:cNvSpPr/>
          <p:nvPr/>
        </p:nvSpPr>
        <p:spPr>
          <a:xfrm>
            <a:off x="4160520" y="4187880"/>
            <a:ext cx="1096920" cy="127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41"/>
          <p:cNvSpPr/>
          <p:nvPr/>
        </p:nvSpPr>
        <p:spPr>
          <a:xfrm>
            <a:off x="457200" y="4443840"/>
            <a:ext cx="5028840" cy="31068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42"/>
          <p:cNvSpPr/>
          <p:nvPr/>
        </p:nvSpPr>
        <p:spPr>
          <a:xfrm>
            <a:off x="940010" y="4519440"/>
            <a:ext cx="817460" cy="19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50" b="1" u="none" strike="noStrike" noProof="0" dirty="0">
                <a:solidFill>
                  <a:srgbClr val="0D1B4B"/>
                </a:solidFill>
                <a:effectLst/>
                <a:uFillTx/>
                <a:latin typeface="Calibri"/>
              </a:rPr>
              <a:t> Imprimerie</a:t>
            </a: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43"/>
          <p:cNvSpPr/>
          <p:nvPr/>
        </p:nvSpPr>
        <p:spPr>
          <a:xfrm>
            <a:off x="2697480" y="44895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50" b="1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526 982 FCFA</a:t>
            </a: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44"/>
          <p:cNvSpPr/>
          <p:nvPr/>
        </p:nvSpPr>
        <p:spPr>
          <a:xfrm>
            <a:off x="4160520" y="4535280"/>
            <a:ext cx="1096920" cy="127800"/>
          </a:xfrm>
          <a:prstGeom prst="rect">
            <a:avLst/>
          </a:prstGeom>
          <a:solidFill>
            <a:srgbClr val="E8EEF6"/>
          </a:solidFill>
          <a:ln w="12700">
            <a:solidFill>
              <a:srgbClr val="E8EE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45"/>
          <p:cNvSpPr/>
          <p:nvPr/>
        </p:nvSpPr>
        <p:spPr>
          <a:xfrm>
            <a:off x="4160520" y="4535280"/>
            <a:ext cx="833400" cy="127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46"/>
          <p:cNvSpPr/>
          <p:nvPr/>
        </p:nvSpPr>
        <p:spPr>
          <a:xfrm>
            <a:off x="457200" y="4791600"/>
            <a:ext cx="5028840" cy="310680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47"/>
          <p:cNvSpPr/>
          <p:nvPr/>
        </p:nvSpPr>
        <p:spPr>
          <a:xfrm>
            <a:off x="940010" y="4827960"/>
            <a:ext cx="101684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50" b="1" u="none" strike="noStrike" noProof="0" dirty="0">
                <a:solidFill>
                  <a:srgbClr val="0D1B4B"/>
                </a:solidFill>
                <a:effectLst/>
                <a:uFillTx/>
                <a:latin typeface="Calibri"/>
              </a:rPr>
              <a:t> Communication</a:t>
            </a: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48"/>
          <p:cNvSpPr/>
          <p:nvPr/>
        </p:nvSpPr>
        <p:spPr>
          <a:xfrm>
            <a:off x="2697480" y="483732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50" b="1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150 000 FCFA</a:t>
            </a: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49"/>
          <p:cNvSpPr/>
          <p:nvPr/>
        </p:nvSpPr>
        <p:spPr>
          <a:xfrm>
            <a:off x="4160520" y="4883040"/>
            <a:ext cx="1096920" cy="127800"/>
          </a:xfrm>
          <a:prstGeom prst="rect">
            <a:avLst/>
          </a:prstGeom>
          <a:solidFill>
            <a:srgbClr val="E8EEF6"/>
          </a:solidFill>
          <a:ln w="12700">
            <a:solidFill>
              <a:srgbClr val="E8EE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50"/>
          <p:cNvSpPr/>
          <p:nvPr/>
        </p:nvSpPr>
        <p:spPr>
          <a:xfrm>
            <a:off x="4160520" y="4883040"/>
            <a:ext cx="241200" cy="127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51"/>
          <p:cNvSpPr/>
          <p:nvPr/>
        </p:nvSpPr>
        <p:spPr>
          <a:xfrm>
            <a:off x="5669280" y="3794760"/>
            <a:ext cx="3017160" cy="1270800"/>
          </a:xfrm>
          <a:prstGeom prst="roundRect">
            <a:avLst>
              <a:gd name="adj" fmla="val 9600"/>
            </a:avLst>
          </a:prstGeom>
          <a:solidFill>
            <a:srgbClr val="0C1D2D"/>
          </a:solidFill>
          <a:ln w="12700">
            <a:solidFill>
              <a:srgbClr val="0D1B4B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52"/>
          <p:cNvSpPr/>
          <p:nvPr/>
        </p:nvSpPr>
        <p:spPr>
          <a:xfrm>
            <a:off x="5806440" y="386784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100" b="1" u="none" strike="noStrike" noProof="0" dirty="0">
                <a:solidFill>
                  <a:srgbClr val="02C39A"/>
                </a:solidFill>
                <a:effectLst/>
                <a:uFillTx/>
                <a:latin typeface="Calibri"/>
              </a:rPr>
              <a:t>Top Clients</a:t>
            </a:r>
            <a:endParaRPr lang="fr-FR" sz="11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53"/>
          <p:cNvSpPr/>
          <p:nvPr/>
        </p:nvSpPr>
        <p:spPr>
          <a:xfrm>
            <a:off x="6146590" y="4151160"/>
            <a:ext cx="9656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 noProof="0" dirty="0">
                <a:solidFill>
                  <a:srgbClr val="CBD5E0"/>
                </a:solidFill>
                <a:effectLst/>
                <a:uFillTx/>
                <a:latin typeface="Calibri"/>
              </a:rPr>
              <a:t>Meilleur CA :</a:t>
            </a:r>
            <a:endParaRPr lang="fr-FR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54"/>
          <p:cNvSpPr/>
          <p:nvPr/>
        </p:nvSpPr>
        <p:spPr>
          <a:xfrm>
            <a:off x="5806440" y="4370760"/>
            <a:ext cx="2742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FFFFFF"/>
                </a:solidFill>
                <a:effectLst/>
                <a:uFillTx/>
                <a:latin typeface="Calibri"/>
              </a:rPr>
              <a:t>Desmon Esperith Kibinda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55"/>
          <p:cNvSpPr/>
          <p:nvPr/>
        </p:nvSpPr>
        <p:spPr>
          <a:xfrm>
            <a:off x="6146590" y="4617720"/>
            <a:ext cx="112253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 noProof="0" dirty="0">
                <a:solidFill>
                  <a:srgbClr val="CBD5E0"/>
                </a:solidFill>
                <a:effectLst/>
                <a:uFillTx/>
                <a:latin typeface="Calibri"/>
              </a:rPr>
              <a:t> + de transactions :</a:t>
            </a:r>
            <a:endParaRPr lang="fr-FR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56"/>
          <p:cNvSpPr/>
          <p:nvPr/>
        </p:nvSpPr>
        <p:spPr>
          <a:xfrm>
            <a:off x="5806440" y="4791600"/>
            <a:ext cx="27428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FFFFFF"/>
                </a:solidFill>
                <a:effectLst/>
                <a:uFillTx/>
                <a:latin typeface="Calibri"/>
              </a:rPr>
              <a:t>Willis Towers Watson (4 ventes)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2694E95-BE78-DB21-78A5-9555F8E19F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586" y="4078516"/>
            <a:ext cx="360000" cy="3600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7EC96EF-0646-34CA-0829-D67CF876A9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2900" y="4572000"/>
            <a:ext cx="271800" cy="27180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306463B2-3F8C-D7C6-FBD4-E502CA77E46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29" y="4482873"/>
            <a:ext cx="234000" cy="23400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E42AE102-74D9-2E34-6A7F-0906F0EB5BF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29" y="4833907"/>
            <a:ext cx="234000" cy="234000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FA2CA80C-F98E-465F-1217-C6BE9266AF2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97" b="15985"/>
          <a:stretch>
            <a:fillRect/>
          </a:stretch>
        </p:blipFill>
        <p:spPr>
          <a:xfrm>
            <a:off x="627331" y="4123440"/>
            <a:ext cx="369792" cy="2559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40000"/>
                <a:lumOff val="60000"/>
              </a:schemeClr>
            </a:gs>
            <a:gs pos="46000">
              <a:schemeClr val="accent3">
                <a:lumMod val="95000"/>
                <a:lumOff val="5000"/>
              </a:schemeClr>
            </a:gs>
            <a:gs pos="100000">
              <a:schemeClr val="accent3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0"/>
          <p:cNvSpPr/>
          <p:nvPr/>
        </p:nvSpPr>
        <p:spPr>
          <a:xfrm>
            <a:off x="457200" y="228600"/>
            <a:ext cx="2011320" cy="2739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"/>
          <p:cNvSpPr/>
          <p:nvPr/>
        </p:nvSpPr>
        <p:spPr>
          <a:xfrm>
            <a:off x="457200" y="22860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00" b="1" u="none" strike="noStrike" noProof="0" dirty="0">
                <a:solidFill>
                  <a:srgbClr val="FFFFFF"/>
                </a:solidFill>
                <a:effectLst/>
                <a:uFillTx/>
                <a:latin typeface="Calibri"/>
              </a:rPr>
              <a:t>06 — TABLEAUX DE BORD POWER BI</a:t>
            </a:r>
            <a:endParaRPr lang="fr-FR" sz="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2"/>
          <p:cNvSpPr/>
          <p:nvPr/>
        </p:nvSpPr>
        <p:spPr>
          <a:xfrm>
            <a:off x="457200" y="5670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2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3"/>
          <p:cNvSpPr/>
          <p:nvPr/>
        </p:nvSpPr>
        <p:spPr>
          <a:xfrm>
            <a:off x="251820" y="573840"/>
            <a:ext cx="8640000" cy="4320000"/>
          </a:xfrm>
          <a:prstGeom prst="roundRect">
            <a:avLst>
              <a:gd name="adj" fmla="val 6000"/>
            </a:avLst>
          </a:prstGeom>
          <a:blipFill dpi="0" rotWithShape="1">
            <a:blip r:embed="rId3"/>
            <a:srcRect/>
            <a:stretch>
              <a:fillRect/>
            </a:stretch>
          </a:blipFill>
          <a:ln w="12700">
            <a:solidFill>
              <a:srgbClr val="0D1B4B"/>
            </a:solidFill>
            <a:round/>
          </a:ln>
          <a:effectLst>
            <a:outerShdw blurRad="101520" dist="25455" dir="81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4"/>
          <p:cNvSpPr/>
          <p:nvPr/>
        </p:nvSpPr>
        <p:spPr>
          <a:xfrm>
            <a:off x="621720" y="134424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3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5"/>
          <p:cNvSpPr/>
          <p:nvPr/>
        </p:nvSpPr>
        <p:spPr>
          <a:xfrm>
            <a:off x="621720" y="178308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6"/>
          <p:cNvSpPr/>
          <p:nvPr/>
        </p:nvSpPr>
        <p:spPr>
          <a:xfrm>
            <a:off x="621720" y="20847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7"/>
          <p:cNvSpPr/>
          <p:nvPr/>
        </p:nvSpPr>
        <p:spPr>
          <a:xfrm>
            <a:off x="621720" y="238644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8"/>
          <p:cNvSpPr/>
          <p:nvPr/>
        </p:nvSpPr>
        <p:spPr>
          <a:xfrm>
            <a:off x="621720" y="268848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0"/>
          <p:cNvSpPr/>
          <p:nvPr/>
        </p:nvSpPr>
        <p:spPr>
          <a:xfrm>
            <a:off x="4873680" y="134424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3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1"/>
          <p:cNvSpPr/>
          <p:nvPr/>
        </p:nvSpPr>
        <p:spPr>
          <a:xfrm>
            <a:off x="4873680" y="178308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2"/>
          <p:cNvSpPr/>
          <p:nvPr/>
        </p:nvSpPr>
        <p:spPr>
          <a:xfrm>
            <a:off x="4873680" y="20847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3"/>
          <p:cNvSpPr/>
          <p:nvPr/>
        </p:nvSpPr>
        <p:spPr>
          <a:xfrm>
            <a:off x="4873680" y="238644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4"/>
          <p:cNvSpPr/>
          <p:nvPr/>
        </p:nvSpPr>
        <p:spPr>
          <a:xfrm>
            <a:off x="4873680" y="268848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6"/>
          <p:cNvSpPr/>
          <p:nvPr/>
        </p:nvSpPr>
        <p:spPr>
          <a:xfrm>
            <a:off x="621720" y="335592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3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17"/>
          <p:cNvSpPr/>
          <p:nvPr/>
        </p:nvSpPr>
        <p:spPr>
          <a:xfrm>
            <a:off x="621720" y="37947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8"/>
          <p:cNvSpPr/>
          <p:nvPr/>
        </p:nvSpPr>
        <p:spPr>
          <a:xfrm>
            <a:off x="621720" y="409644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9"/>
          <p:cNvSpPr/>
          <p:nvPr/>
        </p:nvSpPr>
        <p:spPr>
          <a:xfrm>
            <a:off x="621720" y="439812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20"/>
          <p:cNvSpPr/>
          <p:nvPr/>
        </p:nvSpPr>
        <p:spPr>
          <a:xfrm>
            <a:off x="621720" y="47001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22"/>
          <p:cNvSpPr/>
          <p:nvPr/>
        </p:nvSpPr>
        <p:spPr>
          <a:xfrm>
            <a:off x="4873680" y="335592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3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23"/>
          <p:cNvSpPr/>
          <p:nvPr/>
        </p:nvSpPr>
        <p:spPr>
          <a:xfrm>
            <a:off x="4873680" y="37947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24"/>
          <p:cNvSpPr/>
          <p:nvPr/>
        </p:nvSpPr>
        <p:spPr>
          <a:xfrm>
            <a:off x="4873680" y="409644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25"/>
          <p:cNvSpPr/>
          <p:nvPr/>
        </p:nvSpPr>
        <p:spPr>
          <a:xfrm>
            <a:off x="4873680" y="439812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26"/>
          <p:cNvSpPr/>
          <p:nvPr/>
        </p:nvSpPr>
        <p:spPr>
          <a:xfrm>
            <a:off x="4873680" y="47001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40000"/>
                <a:lumOff val="60000"/>
              </a:schemeClr>
            </a:gs>
            <a:gs pos="46000">
              <a:schemeClr val="accent3">
                <a:lumMod val="95000"/>
                <a:lumOff val="5000"/>
              </a:schemeClr>
            </a:gs>
            <a:gs pos="100000">
              <a:schemeClr val="accent3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742F0B-8537-A35A-3E0B-AB0A2054C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0">
            <a:extLst>
              <a:ext uri="{FF2B5EF4-FFF2-40B4-BE49-F238E27FC236}">
                <a16:creationId xmlns:a16="http://schemas.microsoft.com/office/drawing/2014/main" id="{D6F30015-26B1-FD80-D59F-FEF872D0FA5D}"/>
              </a:ext>
            </a:extLst>
          </p:cNvPr>
          <p:cNvSpPr/>
          <p:nvPr/>
        </p:nvSpPr>
        <p:spPr>
          <a:xfrm>
            <a:off x="457200" y="228600"/>
            <a:ext cx="2011320" cy="2739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">
            <a:extLst>
              <a:ext uri="{FF2B5EF4-FFF2-40B4-BE49-F238E27FC236}">
                <a16:creationId xmlns:a16="http://schemas.microsoft.com/office/drawing/2014/main" id="{82377218-3A5B-A498-CB90-981CC749BE84}"/>
              </a:ext>
            </a:extLst>
          </p:cNvPr>
          <p:cNvSpPr/>
          <p:nvPr/>
        </p:nvSpPr>
        <p:spPr>
          <a:xfrm>
            <a:off x="457200" y="22860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00" b="1" u="none" strike="noStrike" noProof="0" dirty="0">
                <a:solidFill>
                  <a:srgbClr val="FFFFFF"/>
                </a:solidFill>
                <a:effectLst/>
                <a:uFillTx/>
                <a:latin typeface="Calibri"/>
              </a:rPr>
              <a:t>06— TABLEAUX DE BORD POWER BI</a:t>
            </a:r>
            <a:endParaRPr lang="fr-FR" sz="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2">
            <a:extLst>
              <a:ext uri="{FF2B5EF4-FFF2-40B4-BE49-F238E27FC236}">
                <a16:creationId xmlns:a16="http://schemas.microsoft.com/office/drawing/2014/main" id="{DBC5A9E5-E261-FA3F-CDFC-68C444C3FDCA}"/>
              </a:ext>
            </a:extLst>
          </p:cNvPr>
          <p:cNvSpPr/>
          <p:nvPr/>
        </p:nvSpPr>
        <p:spPr>
          <a:xfrm>
            <a:off x="457200" y="5670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2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4">
            <a:extLst>
              <a:ext uri="{FF2B5EF4-FFF2-40B4-BE49-F238E27FC236}">
                <a16:creationId xmlns:a16="http://schemas.microsoft.com/office/drawing/2014/main" id="{5E24C0E8-E2C5-CCD0-EBF1-A1A40A501E82}"/>
              </a:ext>
            </a:extLst>
          </p:cNvPr>
          <p:cNvSpPr/>
          <p:nvPr/>
        </p:nvSpPr>
        <p:spPr>
          <a:xfrm>
            <a:off x="621720" y="134424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3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5">
            <a:extLst>
              <a:ext uri="{FF2B5EF4-FFF2-40B4-BE49-F238E27FC236}">
                <a16:creationId xmlns:a16="http://schemas.microsoft.com/office/drawing/2014/main" id="{3F32AE18-4DD2-2BFF-AB86-27772A48691C}"/>
              </a:ext>
            </a:extLst>
          </p:cNvPr>
          <p:cNvSpPr/>
          <p:nvPr/>
        </p:nvSpPr>
        <p:spPr>
          <a:xfrm>
            <a:off x="621720" y="178308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6">
            <a:extLst>
              <a:ext uri="{FF2B5EF4-FFF2-40B4-BE49-F238E27FC236}">
                <a16:creationId xmlns:a16="http://schemas.microsoft.com/office/drawing/2014/main" id="{2B3CA075-8B8D-77D5-AB3A-286B1E3FD830}"/>
              </a:ext>
            </a:extLst>
          </p:cNvPr>
          <p:cNvSpPr/>
          <p:nvPr/>
        </p:nvSpPr>
        <p:spPr>
          <a:xfrm>
            <a:off x="621720" y="20847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7">
            <a:extLst>
              <a:ext uri="{FF2B5EF4-FFF2-40B4-BE49-F238E27FC236}">
                <a16:creationId xmlns:a16="http://schemas.microsoft.com/office/drawing/2014/main" id="{8B737FAD-B6F8-0D11-0F05-B13C2DF0FCC4}"/>
              </a:ext>
            </a:extLst>
          </p:cNvPr>
          <p:cNvSpPr/>
          <p:nvPr/>
        </p:nvSpPr>
        <p:spPr>
          <a:xfrm>
            <a:off x="621720" y="238644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8">
            <a:extLst>
              <a:ext uri="{FF2B5EF4-FFF2-40B4-BE49-F238E27FC236}">
                <a16:creationId xmlns:a16="http://schemas.microsoft.com/office/drawing/2014/main" id="{6B91414A-A87B-79FE-E0DD-8C7CE78FECE1}"/>
              </a:ext>
            </a:extLst>
          </p:cNvPr>
          <p:cNvSpPr/>
          <p:nvPr/>
        </p:nvSpPr>
        <p:spPr>
          <a:xfrm>
            <a:off x="621720" y="268848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9">
            <a:extLst>
              <a:ext uri="{FF2B5EF4-FFF2-40B4-BE49-F238E27FC236}">
                <a16:creationId xmlns:a16="http://schemas.microsoft.com/office/drawing/2014/main" id="{192E7594-F8F3-EFA6-C187-A516B1483ADB}"/>
              </a:ext>
            </a:extLst>
          </p:cNvPr>
          <p:cNvSpPr/>
          <p:nvPr/>
        </p:nvSpPr>
        <p:spPr>
          <a:xfrm>
            <a:off x="252000" y="594900"/>
            <a:ext cx="8640000" cy="4320000"/>
          </a:xfrm>
          <a:prstGeom prst="roundRect">
            <a:avLst>
              <a:gd name="adj" fmla="val 6000"/>
            </a:avLst>
          </a:prstGeom>
          <a:blipFill>
            <a:blip r:embed="rId3"/>
            <a:stretch>
              <a:fillRect/>
            </a:stretch>
          </a:blipFill>
          <a:ln w="12700">
            <a:solidFill>
              <a:srgbClr val="028090"/>
            </a:solidFill>
            <a:round/>
          </a:ln>
          <a:effectLst>
            <a:outerShdw blurRad="101520" dist="25455" dir="81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0">
            <a:extLst>
              <a:ext uri="{FF2B5EF4-FFF2-40B4-BE49-F238E27FC236}">
                <a16:creationId xmlns:a16="http://schemas.microsoft.com/office/drawing/2014/main" id="{F784E541-2ED5-56DB-C9E6-61858B8CE033}"/>
              </a:ext>
            </a:extLst>
          </p:cNvPr>
          <p:cNvSpPr/>
          <p:nvPr/>
        </p:nvSpPr>
        <p:spPr>
          <a:xfrm>
            <a:off x="4873680" y="134424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3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1">
            <a:extLst>
              <a:ext uri="{FF2B5EF4-FFF2-40B4-BE49-F238E27FC236}">
                <a16:creationId xmlns:a16="http://schemas.microsoft.com/office/drawing/2014/main" id="{8F51EF17-87FA-504A-DA16-B6AF66255A7A}"/>
              </a:ext>
            </a:extLst>
          </p:cNvPr>
          <p:cNvSpPr/>
          <p:nvPr/>
        </p:nvSpPr>
        <p:spPr>
          <a:xfrm>
            <a:off x="4873680" y="178308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2">
            <a:extLst>
              <a:ext uri="{FF2B5EF4-FFF2-40B4-BE49-F238E27FC236}">
                <a16:creationId xmlns:a16="http://schemas.microsoft.com/office/drawing/2014/main" id="{53492218-C004-2BD3-9339-5406FD897248}"/>
              </a:ext>
            </a:extLst>
          </p:cNvPr>
          <p:cNvSpPr/>
          <p:nvPr/>
        </p:nvSpPr>
        <p:spPr>
          <a:xfrm>
            <a:off x="4873680" y="20847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3">
            <a:extLst>
              <a:ext uri="{FF2B5EF4-FFF2-40B4-BE49-F238E27FC236}">
                <a16:creationId xmlns:a16="http://schemas.microsoft.com/office/drawing/2014/main" id="{B0F70D69-E8BB-AB61-D4E8-723CB4AAA0C7}"/>
              </a:ext>
            </a:extLst>
          </p:cNvPr>
          <p:cNvSpPr/>
          <p:nvPr/>
        </p:nvSpPr>
        <p:spPr>
          <a:xfrm>
            <a:off x="4873680" y="238644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4">
            <a:extLst>
              <a:ext uri="{FF2B5EF4-FFF2-40B4-BE49-F238E27FC236}">
                <a16:creationId xmlns:a16="http://schemas.microsoft.com/office/drawing/2014/main" id="{516383F2-0E7E-49BE-EE4C-8B6582D1D3A2}"/>
              </a:ext>
            </a:extLst>
          </p:cNvPr>
          <p:cNvSpPr/>
          <p:nvPr/>
        </p:nvSpPr>
        <p:spPr>
          <a:xfrm>
            <a:off x="4873680" y="268848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6">
            <a:extLst>
              <a:ext uri="{FF2B5EF4-FFF2-40B4-BE49-F238E27FC236}">
                <a16:creationId xmlns:a16="http://schemas.microsoft.com/office/drawing/2014/main" id="{EA157352-ED8E-5874-EC81-387164F83243}"/>
              </a:ext>
            </a:extLst>
          </p:cNvPr>
          <p:cNvSpPr/>
          <p:nvPr/>
        </p:nvSpPr>
        <p:spPr>
          <a:xfrm>
            <a:off x="621720" y="335592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3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17">
            <a:extLst>
              <a:ext uri="{FF2B5EF4-FFF2-40B4-BE49-F238E27FC236}">
                <a16:creationId xmlns:a16="http://schemas.microsoft.com/office/drawing/2014/main" id="{D94764B7-4C13-3327-BAF4-2542169BE0D5}"/>
              </a:ext>
            </a:extLst>
          </p:cNvPr>
          <p:cNvSpPr/>
          <p:nvPr/>
        </p:nvSpPr>
        <p:spPr>
          <a:xfrm>
            <a:off x="621720" y="37947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8">
            <a:extLst>
              <a:ext uri="{FF2B5EF4-FFF2-40B4-BE49-F238E27FC236}">
                <a16:creationId xmlns:a16="http://schemas.microsoft.com/office/drawing/2014/main" id="{86E70D4F-CCAD-C461-4425-3EDE7C226488}"/>
              </a:ext>
            </a:extLst>
          </p:cNvPr>
          <p:cNvSpPr/>
          <p:nvPr/>
        </p:nvSpPr>
        <p:spPr>
          <a:xfrm>
            <a:off x="621720" y="409644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9">
            <a:extLst>
              <a:ext uri="{FF2B5EF4-FFF2-40B4-BE49-F238E27FC236}">
                <a16:creationId xmlns:a16="http://schemas.microsoft.com/office/drawing/2014/main" id="{2919D658-5B77-4D45-B8A6-8326F3433674}"/>
              </a:ext>
            </a:extLst>
          </p:cNvPr>
          <p:cNvSpPr/>
          <p:nvPr/>
        </p:nvSpPr>
        <p:spPr>
          <a:xfrm>
            <a:off x="621720" y="439812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20">
            <a:extLst>
              <a:ext uri="{FF2B5EF4-FFF2-40B4-BE49-F238E27FC236}">
                <a16:creationId xmlns:a16="http://schemas.microsoft.com/office/drawing/2014/main" id="{E42E0C04-A21F-3DA7-2BFC-CB711F228221}"/>
              </a:ext>
            </a:extLst>
          </p:cNvPr>
          <p:cNvSpPr/>
          <p:nvPr/>
        </p:nvSpPr>
        <p:spPr>
          <a:xfrm>
            <a:off x="621720" y="47001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22">
            <a:extLst>
              <a:ext uri="{FF2B5EF4-FFF2-40B4-BE49-F238E27FC236}">
                <a16:creationId xmlns:a16="http://schemas.microsoft.com/office/drawing/2014/main" id="{0A07CA78-4D19-C9A8-87B3-A479F3368FA9}"/>
              </a:ext>
            </a:extLst>
          </p:cNvPr>
          <p:cNvSpPr/>
          <p:nvPr/>
        </p:nvSpPr>
        <p:spPr>
          <a:xfrm>
            <a:off x="4873680" y="335592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3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23">
            <a:extLst>
              <a:ext uri="{FF2B5EF4-FFF2-40B4-BE49-F238E27FC236}">
                <a16:creationId xmlns:a16="http://schemas.microsoft.com/office/drawing/2014/main" id="{0B5D0D59-51FB-77D2-E24F-D3DA1C7DAF25}"/>
              </a:ext>
            </a:extLst>
          </p:cNvPr>
          <p:cNvSpPr/>
          <p:nvPr/>
        </p:nvSpPr>
        <p:spPr>
          <a:xfrm>
            <a:off x="4873680" y="37947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24">
            <a:extLst>
              <a:ext uri="{FF2B5EF4-FFF2-40B4-BE49-F238E27FC236}">
                <a16:creationId xmlns:a16="http://schemas.microsoft.com/office/drawing/2014/main" id="{BA9659E8-9BB2-A85F-81C0-DCC1D48A5B62}"/>
              </a:ext>
            </a:extLst>
          </p:cNvPr>
          <p:cNvSpPr/>
          <p:nvPr/>
        </p:nvSpPr>
        <p:spPr>
          <a:xfrm>
            <a:off x="4873680" y="409644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25">
            <a:extLst>
              <a:ext uri="{FF2B5EF4-FFF2-40B4-BE49-F238E27FC236}">
                <a16:creationId xmlns:a16="http://schemas.microsoft.com/office/drawing/2014/main" id="{07EB03BF-9B94-D5E3-3B97-F6B8D25DA55C}"/>
              </a:ext>
            </a:extLst>
          </p:cNvPr>
          <p:cNvSpPr/>
          <p:nvPr/>
        </p:nvSpPr>
        <p:spPr>
          <a:xfrm>
            <a:off x="4873680" y="439812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26">
            <a:extLst>
              <a:ext uri="{FF2B5EF4-FFF2-40B4-BE49-F238E27FC236}">
                <a16:creationId xmlns:a16="http://schemas.microsoft.com/office/drawing/2014/main" id="{323ACD30-9854-8539-84D0-C58C05D82667}"/>
              </a:ext>
            </a:extLst>
          </p:cNvPr>
          <p:cNvSpPr/>
          <p:nvPr/>
        </p:nvSpPr>
        <p:spPr>
          <a:xfrm>
            <a:off x="4873680" y="47001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0326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40000"/>
                <a:lumOff val="60000"/>
              </a:schemeClr>
            </a:gs>
            <a:gs pos="46000">
              <a:schemeClr val="accent3">
                <a:lumMod val="95000"/>
                <a:lumOff val="5000"/>
              </a:schemeClr>
            </a:gs>
            <a:gs pos="100000">
              <a:schemeClr val="accent3">
                <a:lumMod val="60000"/>
              </a:schemeClr>
            </a:gs>
          </a:gsLst>
          <a:path path="circle">
            <a:fillToRect l="50000" t="130000" r="50000" b="-3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6987D6-CE00-6C2A-3B21-D4DB4463C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0">
            <a:extLst>
              <a:ext uri="{FF2B5EF4-FFF2-40B4-BE49-F238E27FC236}">
                <a16:creationId xmlns:a16="http://schemas.microsoft.com/office/drawing/2014/main" id="{8B4DBD94-321B-0E4B-17C3-36452A81035E}"/>
              </a:ext>
            </a:extLst>
          </p:cNvPr>
          <p:cNvSpPr/>
          <p:nvPr/>
        </p:nvSpPr>
        <p:spPr>
          <a:xfrm>
            <a:off x="457200" y="228600"/>
            <a:ext cx="2011320" cy="2739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">
            <a:extLst>
              <a:ext uri="{FF2B5EF4-FFF2-40B4-BE49-F238E27FC236}">
                <a16:creationId xmlns:a16="http://schemas.microsoft.com/office/drawing/2014/main" id="{8865A16B-BCC7-72FD-13C1-FFB765C8B711}"/>
              </a:ext>
            </a:extLst>
          </p:cNvPr>
          <p:cNvSpPr/>
          <p:nvPr/>
        </p:nvSpPr>
        <p:spPr>
          <a:xfrm>
            <a:off x="457200" y="22860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00" b="1" u="none" strike="noStrike" noProof="0" dirty="0">
                <a:solidFill>
                  <a:srgbClr val="FFFFFF"/>
                </a:solidFill>
                <a:effectLst/>
                <a:uFillTx/>
                <a:latin typeface="Calibri"/>
              </a:rPr>
              <a:t>06 — TABLEAUX DE BORD POWER BI</a:t>
            </a:r>
            <a:endParaRPr lang="fr-FR" sz="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2">
            <a:extLst>
              <a:ext uri="{FF2B5EF4-FFF2-40B4-BE49-F238E27FC236}">
                <a16:creationId xmlns:a16="http://schemas.microsoft.com/office/drawing/2014/main" id="{95DCB686-0160-8574-BA35-715AE9688B79}"/>
              </a:ext>
            </a:extLst>
          </p:cNvPr>
          <p:cNvSpPr/>
          <p:nvPr/>
        </p:nvSpPr>
        <p:spPr>
          <a:xfrm>
            <a:off x="457200" y="5670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2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4">
            <a:extLst>
              <a:ext uri="{FF2B5EF4-FFF2-40B4-BE49-F238E27FC236}">
                <a16:creationId xmlns:a16="http://schemas.microsoft.com/office/drawing/2014/main" id="{2EC0775E-2E1B-EF30-1595-D584B3D0E692}"/>
              </a:ext>
            </a:extLst>
          </p:cNvPr>
          <p:cNvSpPr/>
          <p:nvPr/>
        </p:nvSpPr>
        <p:spPr>
          <a:xfrm>
            <a:off x="621720" y="134424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3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5">
            <a:extLst>
              <a:ext uri="{FF2B5EF4-FFF2-40B4-BE49-F238E27FC236}">
                <a16:creationId xmlns:a16="http://schemas.microsoft.com/office/drawing/2014/main" id="{F7735CDA-DD86-C732-6B7D-24183576E281}"/>
              </a:ext>
            </a:extLst>
          </p:cNvPr>
          <p:cNvSpPr/>
          <p:nvPr/>
        </p:nvSpPr>
        <p:spPr>
          <a:xfrm>
            <a:off x="621720" y="178308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6">
            <a:extLst>
              <a:ext uri="{FF2B5EF4-FFF2-40B4-BE49-F238E27FC236}">
                <a16:creationId xmlns:a16="http://schemas.microsoft.com/office/drawing/2014/main" id="{DD03C982-99F4-95CD-D1DF-E19152794F4C}"/>
              </a:ext>
            </a:extLst>
          </p:cNvPr>
          <p:cNvSpPr/>
          <p:nvPr/>
        </p:nvSpPr>
        <p:spPr>
          <a:xfrm>
            <a:off x="621720" y="20847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7">
            <a:extLst>
              <a:ext uri="{FF2B5EF4-FFF2-40B4-BE49-F238E27FC236}">
                <a16:creationId xmlns:a16="http://schemas.microsoft.com/office/drawing/2014/main" id="{A36160CF-11D9-E59A-05CC-F156AA372AF9}"/>
              </a:ext>
            </a:extLst>
          </p:cNvPr>
          <p:cNvSpPr/>
          <p:nvPr/>
        </p:nvSpPr>
        <p:spPr>
          <a:xfrm>
            <a:off x="621720" y="238644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8">
            <a:extLst>
              <a:ext uri="{FF2B5EF4-FFF2-40B4-BE49-F238E27FC236}">
                <a16:creationId xmlns:a16="http://schemas.microsoft.com/office/drawing/2014/main" id="{E4E07ACB-9302-612C-48D7-4E7462CD7C04}"/>
              </a:ext>
            </a:extLst>
          </p:cNvPr>
          <p:cNvSpPr/>
          <p:nvPr/>
        </p:nvSpPr>
        <p:spPr>
          <a:xfrm>
            <a:off x="621720" y="268848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9">
            <a:extLst>
              <a:ext uri="{FF2B5EF4-FFF2-40B4-BE49-F238E27FC236}">
                <a16:creationId xmlns:a16="http://schemas.microsoft.com/office/drawing/2014/main" id="{1EA8E97B-BAF5-2ACF-E016-4C6D68E9E10A}"/>
              </a:ext>
            </a:extLst>
          </p:cNvPr>
          <p:cNvSpPr/>
          <p:nvPr/>
        </p:nvSpPr>
        <p:spPr>
          <a:xfrm>
            <a:off x="251820" y="594900"/>
            <a:ext cx="8640000" cy="4320000"/>
          </a:xfrm>
          <a:prstGeom prst="roundRect">
            <a:avLst>
              <a:gd name="adj" fmla="val 6000"/>
            </a:avLst>
          </a:prstGeom>
          <a:blipFill>
            <a:blip r:embed="rId3"/>
            <a:stretch>
              <a:fillRect/>
            </a:stretch>
          </a:blipFill>
          <a:ln w="12700">
            <a:solidFill>
              <a:srgbClr val="028090"/>
            </a:solidFill>
            <a:round/>
          </a:ln>
          <a:effectLst>
            <a:outerShdw blurRad="101520" dist="25455" dir="81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0">
            <a:extLst>
              <a:ext uri="{FF2B5EF4-FFF2-40B4-BE49-F238E27FC236}">
                <a16:creationId xmlns:a16="http://schemas.microsoft.com/office/drawing/2014/main" id="{DE18E0B2-4EE6-D5A0-60DF-4616605DF9A7}"/>
              </a:ext>
            </a:extLst>
          </p:cNvPr>
          <p:cNvSpPr/>
          <p:nvPr/>
        </p:nvSpPr>
        <p:spPr>
          <a:xfrm>
            <a:off x="4873680" y="134424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3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1">
            <a:extLst>
              <a:ext uri="{FF2B5EF4-FFF2-40B4-BE49-F238E27FC236}">
                <a16:creationId xmlns:a16="http://schemas.microsoft.com/office/drawing/2014/main" id="{E723C23E-4C23-F795-64B1-577B46747D29}"/>
              </a:ext>
            </a:extLst>
          </p:cNvPr>
          <p:cNvSpPr/>
          <p:nvPr/>
        </p:nvSpPr>
        <p:spPr>
          <a:xfrm>
            <a:off x="4873680" y="178308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2">
            <a:extLst>
              <a:ext uri="{FF2B5EF4-FFF2-40B4-BE49-F238E27FC236}">
                <a16:creationId xmlns:a16="http://schemas.microsoft.com/office/drawing/2014/main" id="{3AF617D7-855A-5AE2-8770-3AD00BD81E35}"/>
              </a:ext>
            </a:extLst>
          </p:cNvPr>
          <p:cNvSpPr/>
          <p:nvPr/>
        </p:nvSpPr>
        <p:spPr>
          <a:xfrm>
            <a:off x="4873680" y="20847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3">
            <a:extLst>
              <a:ext uri="{FF2B5EF4-FFF2-40B4-BE49-F238E27FC236}">
                <a16:creationId xmlns:a16="http://schemas.microsoft.com/office/drawing/2014/main" id="{321BBDE0-2953-5FD8-0157-08F0C46A8EEF}"/>
              </a:ext>
            </a:extLst>
          </p:cNvPr>
          <p:cNvSpPr/>
          <p:nvPr/>
        </p:nvSpPr>
        <p:spPr>
          <a:xfrm>
            <a:off x="4873680" y="238644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4">
            <a:extLst>
              <a:ext uri="{FF2B5EF4-FFF2-40B4-BE49-F238E27FC236}">
                <a16:creationId xmlns:a16="http://schemas.microsoft.com/office/drawing/2014/main" id="{A6EC3DCD-8655-9F36-B034-FB736456E0BB}"/>
              </a:ext>
            </a:extLst>
          </p:cNvPr>
          <p:cNvSpPr/>
          <p:nvPr/>
        </p:nvSpPr>
        <p:spPr>
          <a:xfrm>
            <a:off x="4873680" y="268848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6">
            <a:extLst>
              <a:ext uri="{FF2B5EF4-FFF2-40B4-BE49-F238E27FC236}">
                <a16:creationId xmlns:a16="http://schemas.microsoft.com/office/drawing/2014/main" id="{B6586534-A008-9BA4-BED0-02AED3E61C3F}"/>
              </a:ext>
            </a:extLst>
          </p:cNvPr>
          <p:cNvSpPr/>
          <p:nvPr/>
        </p:nvSpPr>
        <p:spPr>
          <a:xfrm>
            <a:off x="621720" y="335592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3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17">
            <a:extLst>
              <a:ext uri="{FF2B5EF4-FFF2-40B4-BE49-F238E27FC236}">
                <a16:creationId xmlns:a16="http://schemas.microsoft.com/office/drawing/2014/main" id="{B142FB34-DC4C-4390-416C-5CC2444CAFDF}"/>
              </a:ext>
            </a:extLst>
          </p:cNvPr>
          <p:cNvSpPr/>
          <p:nvPr/>
        </p:nvSpPr>
        <p:spPr>
          <a:xfrm>
            <a:off x="621720" y="37947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8">
            <a:extLst>
              <a:ext uri="{FF2B5EF4-FFF2-40B4-BE49-F238E27FC236}">
                <a16:creationId xmlns:a16="http://schemas.microsoft.com/office/drawing/2014/main" id="{DDC00E3C-1EB4-2804-534F-A8B2B8503B03}"/>
              </a:ext>
            </a:extLst>
          </p:cNvPr>
          <p:cNvSpPr/>
          <p:nvPr/>
        </p:nvSpPr>
        <p:spPr>
          <a:xfrm>
            <a:off x="621720" y="409644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9">
            <a:extLst>
              <a:ext uri="{FF2B5EF4-FFF2-40B4-BE49-F238E27FC236}">
                <a16:creationId xmlns:a16="http://schemas.microsoft.com/office/drawing/2014/main" id="{BC0B9549-7B9E-A72F-BCD7-84E7A698A8A8}"/>
              </a:ext>
            </a:extLst>
          </p:cNvPr>
          <p:cNvSpPr/>
          <p:nvPr/>
        </p:nvSpPr>
        <p:spPr>
          <a:xfrm>
            <a:off x="621720" y="439812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20">
            <a:extLst>
              <a:ext uri="{FF2B5EF4-FFF2-40B4-BE49-F238E27FC236}">
                <a16:creationId xmlns:a16="http://schemas.microsoft.com/office/drawing/2014/main" id="{2868AD2E-DA7F-D0B8-BBC4-3BFE27EDEB1D}"/>
              </a:ext>
            </a:extLst>
          </p:cNvPr>
          <p:cNvSpPr/>
          <p:nvPr/>
        </p:nvSpPr>
        <p:spPr>
          <a:xfrm>
            <a:off x="621720" y="47001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22">
            <a:extLst>
              <a:ext uri="{FF2B5EF4-FFF2-40B4-BE49-F238E27FC236}">
                <a16:creationId xmlns:a16="http://schemas.microsoft.com/office/drawing/2014/main" id="{659BC516-EE64-2546-00B0-FFE2EDD08953}"/>
              </a:ext>
            </a:extLst>
          </p:cNvPr>
          <p:cNvSpPr/>
          <p:nvPr/>
        </p:nvSpPr>
        <p:spPr>
          <a:xfrm>
            <a:off x="4873680" y="335592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3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23">
            <a:extLst>
              <a:ext uri="{FF2B5EF4-FFF2-40B4-BE49-F238E27FC236}">
                <a16:creationId xmlns:a16="http://schemas.microsoft.com/office/drawing/2014/main" id="{F7EB2F64-4A70-BE22-E452-DCF4F1D7E756}"/>
              </a:ext>
            </a:extLst>
          </p:cNvPr>
          <p:cNvSpPr/>
          <p:nvPr/>
        </p:nvSpPr>
        <p:spPr>
          <a:xfrm>
            <a:off x="4873680" y="37947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24">
            <a:extLst>
              <a:ext uri="{FF2B5EF4-FFF2-40B4-BE49-F238E27FC236}">
                <a16:creationId xmlns:a16="http://schemas.microsoft.com/office/drawing/2014/main" id="{BAD5474C-1D29-1A6D-45FB-0B1641046889}"/>
              </a:ext>
            </a:extLst>
          </p:cNvPr>
          <p:cNvSpPr/>
          <p:nvPr/>
        </p:nvSpPr>
        <p:spPr>
          <a:xfrm>
            <a:off x="4873680" y="409644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25">
            <a:extLst>
              <a:ext uri="{FF2B5EF4-FFF2-40B4-BE49-F238E27FC236}">
                <a16:creationId xmlns:a16="http://schemas.microsoft.com/office/drawing/2014/main" id="{54CC7EB0-3FBF-EE78-CC35-3AB9856E4032}"/>
              </a:ext>
            </a:extLst>
          </p:cNvPr>
          <p:cNvSpPr/>
          <p:nvPr/>
        </p:nvSpPr>
        <p:spPr>
          <a:xfrm>
            <a:off x="4873680" y="439812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26">
            <a:extLst>
              <a:ext uri="{FF2B5EF4-FFF2-40B4-BE49-F238E27FC236}">
                <a16:creationId xmlns:a16="http://schemas.microsoft.com/office/drawing/2014/main" id="{23151A1A-7150-C157-01C7-E99646710A08}"/>
              </a:ext>
            </a:extLst>
          </p:cNvPr>
          <p:cNvSpPr/>
          <p:nvPr/>
        </p:nvSpPr>
        <p:spPr>
          <a:xfrm>
            <a:off x="4873680" y="47001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4175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40000"/>
                <a:lumOff val="60000"/>
              </a:schemeClr>
            </a:gs>
            <a:gs pos="46000">
              <a:schemeClr val="accent3">
                <a:lumMod val="95000"/>
                <a:lumOff val="5000"/>
              </a:schemeClr>
            </a:gs>
            <a:gs pos="100000">
              <a:schemeClr val="accent3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B2E1AB-6A2C-62F3-0A2F-F5FC91D88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0">
            <a:extLst>
              <a:ext uri="{FF2B5EF4-FFF2-40B4-BE49-F238E27FC236}">
                <a16:creationId xmlns:a16="http://schemas.microsoft.com/office/drawing/2014/main" id="{DC620AC4-C2D8-C25F-89A8-C6C96324BB76}"/>
              </a:ext>
            </a:extLst>
          </p:cNvPr>
          <p:cNvSpPr/>
          <p:nvPr/>
        </p:nvSpPr>
        <p:spPr>
          <a:xfrm>
            <a:off x="457200" y="228600"/>
            <a:ext cx="2011320" cy="2739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">
            <a:extLst>
              <a:ext uri="{FF2B5EF4-FFF2-40B4-BE49-F238E27FC236}">
                <a16:creationId xmlns:a16="http://schemas.microsoft.com/office/drawing/2014/main" id="{7202AC6E-8026-B5AA-F929-64279D15759B}"/>
              </a:ext>
            </a:extLst>
          </p:cNvPr>
          <p:cNvSpPr/>
          <p:nvPr/>
        </p:nvSpPr>
        <p:spPr>
          <a:xfrm>
            <a:off x="457200" y="22860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00" b="1" u="none" strike="noStrike" noProof="0" dirty="0">
                <a:solidFill>
                  <a:srgbClr val="FFFFFF"/>
                </a:solidFill>
                <a:effectLst/>
                <a:uFillTx/>
                <a:latin typeface="Calibri"/>
              </a:rPr>
              <a:t>06 — TABLEAUX DE BORD POWER BI</a:t>
            </a:r>
            <a:endParaRPr lang="fr-FR" sz="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2">
            <a:extLst>
              <a:ext uri="{FF2B5EF4-FFF2-40B4-BE49-F238E27FC236}">
                <a16:creationId xmlns:a16="http://schemas.microsoft.com/office/drawing/2014/main" id="{46C4378A-4D26-D325-9890-D1F830E6AFE5}"/>
              </a:ext>
            </a:extLst>
          </p:cNvPr>
          <p:cNvSpPr/>
          <p:nvPr/>
        </p:nvSpPr>
        <p:spPr>
          <a:xfrm>
            <a:off x="457200" y="5670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2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4">
            <a:extLst>
              <a:ext uri="{FF2B5EF4-FFF2-40B4-BE49-F238E27FC236}">
                <a16:creationId xmlns:a16="http://schemas.microsoft.com/office/drawing/2014/main" id="{4FD5D923-2772-79B1-963E-84AFEBE73820}"/>
              </a:ext>
            </a:extLst>
          </p:cNvPr>
          <p:cNvSpPr/>
          <p:nvPr/>
        </p:nvSpPr>
        <p:spPr>
          <a:xfrm>
            <a:off x="621720" y="134424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3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5">
            <a:extLst>
              <a:ext uri="{FF2B5EF4-FFF2-40B4-BE49-F238E27FC236}">
                <a16:creationId xmlns:a16="http://schemas.microsoft.com/office/drawing/2014/main" id="{808C1B32-AC94-7CA1-8A23-AD5BC74D368D}"/>
              </a:ext>
            </a:extLst>
          </p:cNvPr>
          <p:cNvSpPr/>
          <p:nvPr/>
        </p:nvSpPr>
        <p:spPr>
          <a:xfrm>
            <a:off x="621720" y="178308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6">
            <a:extLst>
              <a:ext uri="{FF2B5EF4-FFF2-40B4-BE49-F238E27FC236}">
                <a16:creationId xmlns:a16="http://schemas.microsoft.com/office/drawing/2014/main" id="{7DD0487F-A113-2133-30AA-88F6BA993621}"/>
              </a:ext>
            </a:extLst>
          </p:cNvPr>
          <p:cNvSpPr/>
          <p:nvPr/>
        </p:nvSpPr>
        <p:spPr>
          <a:xfrm>
            <a:off x="621720" y="20847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7">
            <a:extLst>
              <a:ext uri="{FF2B5EF4-FFF2-40B4-BE49-F238E27FC236}">
                <a16:creationId xmlns:a16="http://schemas.microsoft.com/office/drawing/2014/main" id="{A0F20209-7F4E-2A5E-0BB6-01258302E6CE}"/>
              </a:ext>
            </a:extLst>
          </p:cNvPr>
          <p:cNvSpPr/>
          <p:nvPr/>
        </p:nvSpPr>
        <p:spPr>
          <a:xfrm>
            <a:off x="621720" y="238644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8">
            <a:extLst>
              <a:ext uri="{FF2B5EF4-FFF2-40B4-BE49-F238E27FC236}">
                <a16:creationId xmlns:a16="http://schemas.microsoft.com/office/drawing/2014/main" id="{41CEB6CD-E779-0C4C-2D0D-9D28E2EF4576}"/>
              </a:ext>
            </a:extLst>
          </p:cNvPr>
          <p:cNvSpPr/>
          <p:nvPr/>
        </p:nvSpPr>
        <p:spPr>
          <a:xfrm>
            <a:off x="621720" y="268848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0">
            <a:extLst>
              <a:ext uri="{FF2B5EF4-FFF2-40B4-BE49-F238E27FC236}">
                <a16:creationId xmlns:a16="http://schemas.microsoft.com/office/drawing/2014/main" id="{34A790DD-928B-638A-E825-83E23B2D7690}"/>
              </a:ext>
            </a:extLst>
          </p:cNvPr>
          <p:cNvSpPr/>
          <p:nvPr/>
        </p:nvSpPr>
        <p:spPr>
          <a:xfrm>
            <a:off x="4873680" y="134424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3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1">
            <a:extLst>
              <a:ext uri="{FF2B5EF4-FFF2-40B4-BE49-F238E27FC236}">
                <a16:creationId xmlns:a16="http://schemas.microsoft.com/office/drawing/2014/main" id="{1CB0AAA8-6E83-B3CE-A2BC-6DB269D3EACF}"/>
              </a:ext>
            </a:extLst>
          </p:cNvPr>
          <p:cNvSpPr/>
          <p:nvPr/>
        </p:nvSpPr>
        <p:spPr>
          <a:xfrm>
            <a:off x="4873680" y="178308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2">
            <a:extLst>
              <a:ext uri="{FF2B5EF4-FFF2-40B4-BE49-F238E27FC236}">
                <a16:creationId xmlns:a16="http://schemas.microsoft.com/office/drawing/2014/main" id="{5A44ED68-714C-503A-D791-AE1248940F5F}"/>
              </a:ext>
            </a:extLst>
          </p:cNvPr>
          <p:cNvSpPr/>
          <p:nvPr/>
        </p:nvSpPr>
        <p:spPr>
          <a:xfrm>
            <a:off x="4873680" y="20847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3">
            <a:extLst>
              <a:ext uri="{FF2B5EF4-FFF2-40B4-BE49-F238E27FC236}">
                <a16:creationId xmlns:a16="http://schemas.microsoft.com/office/drawing/2014/main" id="{3EE20D9D-07CD-037E-2982-E4EADBB7D593}"/>
              </a:ext>
            </a:extLst>
          </p:cNvPr>
          <p:cNvSpPr/>
          <p:nvPr/>
        </p:nvSpPr>
        <p:spPr>
          <a:xfrm>
            <a:off x="4873680" y="238644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4">
            <a:extLst>
              <a:ext uri="{FF2B5EF4-FFF2-40B4-BE49-F238E27FC236}">
                <a16:creationId xmlns:a16="http://schemas.microsoft.com/office/drawing/2014/main" id="{0C2425E0-5A36-E28C-C0EE-0E2CC99277DF}"/>
              </a:ext>
            </a:extLst>
          </p:cNvPr>
          <p:cNvSpPr/>
          <p:nvPr/>
        </p:nvSpPr>
        <p:spPr>
          <a:xfrm>
            <a:off x="4873680" y="268848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6">
            <a:extLst>
              <a:ext uri="{FF2B5EF4-FFF2-40B4-BE49-F238E27FC236}">
                <a16:creationId xmlns:a16="http://schemas.microsoft.com/office/drawing/2014/main" id="{DE0FA9E6-2550-33DE-5B2D-22B449E4B838}"/>
              </a:ext>
            </a:extLst>
          </p:cNvPr>
          <p:cNvSpPr/>
          <p:nvPr/>
        </p:nvSpPr>
        <p:spPr>
          <a:xfrm>
            <a:off x="621720" y="335592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3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17">
            <a:extLst>
              <a:ext uri="{FF2B5EF4-FFF2-40B4-BE49-F238E27FC236}">
                <a16:creationId xmlns:a16="http://schemas.microsoft.com/office/drawing/2014/main" id="{32A4A81E-2CE2-810A-F2F6-07ACA22627D0}"/>
              </a:ext>
            </a:extLst>
          </p:cNvPr>
          <p:cNvSpPr/>
          <p:nvPr/>
        </p:nvSpPr>
        <p:spPr>
          <a:xfrm>
            <a:off x="621720" y="37947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8">
            <a:extLst>
              <a:ext uri="{FF2B5EF4-FFF2-40B4-BE49-F238E27FC236}">
                <a16:creationId xmlns:a16="http://schemas.microsoft.com/office/drawing/2014/main" id="{F04BB95B-31CF-AFA6-0682-021474B1F96C}"/>
              </a:ext>
            </a:extLst>
          </p:cNvPr>
          <p:cNvSpPr/>
          <p:nvPr/>
        </p:nvSpPr>
        <p:spPr>
          <a:xfrm>
            <a:off x="621720" y="409644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9">
            <a:extLst>
              <a:ext uri="{FF2B5EF4-FFF2-40B4-BE49-F238E27FC236}">
                <a16:creationId xmlns:a16="http://schemas.microsoft.com/office/drawing/2014/main" id="{BAA56C2F-EB96-C5DD-220D-48FA4A4B6AD7}"/>
              </a:ext>
            </a:extLst>
          </p:cNvPr>
          <p:cNvSpPr/>
          <p:nvPr/>
        </p:nvSpPr>
        <p:spPr>
          <a:xfrm>
            <a:off x="621720" y="439812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20">
            <a:extLst>
              <a:ext uri="{FF2B5EF4-FFF2-40B4-BE49-F238E27FC236}">
                <a16:creationId xmlns:a16="http://schemas.microsoft.com/office/drawing/2014/main" id="{19C8D409-191C-B908-9697-B5A9E97DF837}"/>
              </a:ext>
            </a:extLst>
          </p:cNvPr>
          <p:cNvSpPr/>
          <p:nvPr/>
        </p:nvSpPr>
        <p:spPr>
          <a:xfrm>
            <a:off x="621720" y="47001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21">
            <a:extLst>
              <a:ext uri="{FF2B5EF4-FFF2-40B4-BE49-F238E27FC236}">
                <a16:creationId xmlns:a16="http://schemas.microsoft.com/office/drawing/2014/main" id="{8D794CBF-ECF3-27CB-760F-0D295BCF3337}"/>
              </a:ext>
            </a:extLst>
          </p:cNvPr>
          <p:cNvSpPr/>
          <p:nvPr/>
        </p:nvSpPr>
        <p:spPr>
          <a:xfrm>
            <a:off x="252000" y="594900"/>
            <a:ext cx="8640000" cy="4320000"/>
          </a:xfrm>
          <a:prstGeom prst="roundRect">
            <a:avLst>
              <a:gd name="adj" fmla="val 6000"/>
            </a:avLst>
          </a:prstGeom>
          <a:blipFill>
            <a:blip r:embed="rId3"/>
            <a:stretch>
              <a:fillRect/>
            </a:stretch>
          </a:blipFill>
          <a:ln w="12700">
            <a:solidFill>
              <a:srgbClr val="065A82"/>
            </a:solidFill>
            <a:round/>
          </a:ln>
          <a:effectLst>
            <a:outerShdw blurRad="101520" dist="25455" dir="81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22">
            <a:extLst>
              <a:ext uri="{FF2B5EF4-FFF2-40B4-BE49-F238E27FC236}">
                <a16:creationId xmlns:a16="http://schemas.microsoft.com/office/drawing/2014/main" id="{DF25541D-16B2-591C-E44D-5CDB77AEF66C}"/>
              </a:ext>
            </a:extLst>
          </p:cNvPr>
          <p:cNvSpPr/>
          <p:nvPr/>
        </p:nvSpPr>
        <p:spPr>
          <a:xfrm>
            <a:off x="4873680" y="335592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3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23">
            <a:extLst>
              <a:ext uri="{FF2B5EF4-FFF2-40B4-BE49-F238E27FC236}">
                <a16:creationId xmlns:a16="http://schemas.microsoft.com/office/drawing/2014/main" id="{45B29C8B-2580-631D-7A34-0150EF086C0A}"/>
              </a:ext>
            </a:extLst>
          </p:cNvPr>
          <p:cNvSpPr/>
          <p:nvPr/>
        </p:nvSpPr>
        <p:spPr>
          <a:xfrm>
            <a:off x="4873680" y="37947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24">
            <a:extLst>
              <a:ext uri="{FF2B5EF4-FFF2-40B4-BE49-F238E27FC236}">
                <a16:creationId xmlns:a16="http://schemas.microsoft.com/office/drawing/2014/main" id="{05812ABD-ED59-0AD4-2098-FC481EA63C60}"/>
              </a:ext>
            </a:extLst>
          </p:cNvPr>
          <p:cNvSpPr/>
          <p:nvPr/>
        </p:nvSpPr>
        <p:spPr>
          <a:xfrm>
            <a:off x="4873680" y="409644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25">
            <a:extLst>
              <a:ext uri="{FF2B5EF4-FFF2-40B4-BE49-F238E27FC236}">
                <a16:creationId xmlns:a16="http://schemas.microsoft.com/office/drawing/2014/main" id="{16084E05-98EA-613B-47CE-49076645A2E0}"/>
              </a:ext>
            </a:extLst>
          </p:cNvPr>
          <p:cNvSpPr/>
          <p:nvPr/>
        </p:nvSpPr>
        <p:spPr>
          <a:xfrm>
            <a:off x="4873680" y="439812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26">
            <a:extLst>
              <a:ext uri="{FF2B5EF4-FFF2-40B4-BE49-F238E27FC236}">
                <a16:creationId xmlns:a16="http://schemas.microsoft.com/office/drawing/2014/main" id="{F61E4D21-87CD-8F29-1A5B-4CBB286A7B6E}"/>
              </a:ext>
            </a:extLst>
          </p:cNvPr>
          <p:cNvSpPr/>
          <p:nvPr/>
        </p:nvSpPr>
        <p:spPr>
          <a:xfrm>
            <a:off x="4873680" y="47001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2365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40000"/>
                <a:lumOff val="60000"/>
              </a:schemeClr>
            </a:gs>
            <a:gs pos="46000">
              <a:schemeClr val="accent3">
                <a:lumMod val="95000"/>
                <a:lumOff val="5000"/>
              </a:schemeClr>
            </a:gs>
            <a:gs pos="100000">
              <a:schemeClr val="accent3">
                <a:lumMod val="60000"/>
              </a:schemeClr>
            </a:gs>
          </a:gsLst>
          <a:path path="circle">
            <a:fillToRect l="50000" t="130000" r="50000" b="-3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5F8D56-0EEA-28E3-7D5F-6861CD775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0">
            <a:extLst>
              <a:ext uri="{FF2B5EF4-FFF2-40B4-BE49-F238E27FC236}">
                <a16:creationId xmlns:a16="http://schemas.microsoft.com/office/drawing/2014/main" id="{AC76C890-BEE3-6B0D-A9CE-C3FE477DDDAC}"/>
              </a:ext>
            </a:extLst>
          </p:cNvPr>
          <p:cNvSpPr/>
          <p:nvPr/>
        </p:nvSpPr>
        <p:spPr>
          <a:xfrm>
            <a:off x="457200" y="228600"/>
            <a:ext cx="2011320" cy="2739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">
            <a:extLst>
              <a:ext uri="{FF2B5EF4-FFF2-40B4-BE49-F238E27FC236}">
                <a16:creationId xmlns:a16="http://schemas.microsoft.com/office/drawing/2014/main" id="{E8D07A2C-A70F-0CA4-24DA-0BB17AD56DA7}"/>
              </a:ext>
            </a:extLst>
          </p:cNvPr>
          <p:cNvSpPr/>
          <p:nvPr/>
        </p:nvSpPr>
        <p:spPr>
          <a:xfrm>
            <a:off x="457200" y="22860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00" b="1" u="none" strike="noStrike" noProof="0" dirty="0">
                <a:solidFill>
                  <a:srgbClr val="FFFFFF"/>
                </a:solidFill>
                <a:effectLst/>
                <a:uFillTx/>
                <a:latin typeface="Calibri"/>
              </a:rPr>
              <a:t>06 — TABLEAUX DE BORD POWER BI</a:t>
            </a:r>
            <a:endParaRPr lang="fr-FR" sz="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2">
            <a:extLst>
              <a:ext uri="{FF2B5EF4-FFF2-40B4-BE49-F238E27FC236}">
                <a16:creationId xmlns:a16="http://schemas.microsoft.com/office/drawing/2014/main" id="{BD63898D-83BF-8C7C-89EE-EE1AFDB1497C}"/>
              </a:ext>
            </a:extLst>
          </p:cNvPr>
          <p:cNvSpPr/>
          <p:nvPr/>
        </p:nvSpPr>
        <p:spPr>
          <a:xfrm>
            <a:off x="457200" y="5670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2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4">
            <a:extLst>
              <a:ext uri="{FF2B5EF4-FFF2-40B4-BE49-F238E27FC236}">
                <a16:creationId xmlns:a16="http://schemas.microsoft.com/office/drawing/2014/main" id="{6FF419AA-B08E-C8F4-7ADB-BC18CD7DCAA8}"/>
              </a:ext>
            </a:extLst>
          </p:cNvPr>
          <p:cNvSpPr/>
          <p:nvPr/>
        </p:nvSpPr>
        <p:spPr>
          <a:xfrm>
            <a:off x="621720" y="134424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3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5">
            <a:extLst>
              <a:ext uri="{FF2B5EF4-FFF2-40B4-BE49-F238E27FC236}">
                <a16:creationId xmlns:a16="http://schemas.microsoft.com/office/drawing/2014/main" id="{C7324C44-45BF-7D3B-838B-4DC3C393A040}"/>
              </a:ext>
            </a:extLst>
          </p:cNvPr>
          <p:cNvSpPr/>
          <p:nvPr/>
        </p:nvSpPr>
        <p:spPr>
          <a:xfrm>
            <a:off x="621720" y="178308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6">
            <a:extLst>
              <a:ext uri="{FF2B5EF4-FFF2-40B4-BE49-F238E27FC236}">
                <a16:creationId xmlns:a16="http://schemas.microsoft.com/office/drawing/2014/main" id="{FD2E1771-FA35-D16E-F063-A68143DD94F0}"/>
              </a:ext>
            </a:extLst>
          </p:cNvPr>
          <p:cNvSpPr/>
          <p:nvPr/>
        </p:nvSpPr>
        <p:spPr>
          <a:xfrm>
            <a:off x="621720" y="20847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7">
            <a:extLst>
              <a:ext uri="{FF2B5EF4-FFF2-40B4-BE49-F238E27FC236}">
                <a16:creationId xmlns:a16="http://schemas.microsoft.com/office/drawing/2014/main" id="{61228FB6-9189-208D-FD9B-2859F42C46C6}"/>
              </a:ext>
            </a:extLst>
          </p:cNvPr>
          <p:cNvSpPr/>
          <p:nvPr/>
        </p:nvSpPr>
        <p:spPr>
          <a:xfrm>
            <a:off x="621720" y="238644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8">
            <a:extLst>
              <a:ext uri="{FF2B5EF4-FFF2-40B4-BE49-F238E27FC236}">
                <a16:creationId xmlns:a16="http://schemas.microsoft.com/office/drawing/2014/main" id="{DC6DD42A-56FA-A22F-F352-2B76A79A4A7F}"/>
              </a:ext>
            </a:extLst>
          </p:cNvPr>
          <p:cNvSpPr/>
          <p:nvPr/>
        </p:nvSpPr>
        <p:spPr>
          <a:xfrm>
            <a:off x="621720" y="268848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0">
            <a:extLst>
              <a:ext uri="{FF2B5EF4-FFF2-40B4-BE49-F238E27FC236}">
                <a16:creationId xmlns:a16="http://schemas.microsoft.com/office/drawing/2014/main" id="{A6DACFB5-0808-17DF-E9A4-4E9654DDE921}"/>
              </a:ext>
            </a:extLst>
          </p:cNvPr>
          <p:cNvSpPr/>
          <p:nvPr/>
        </p:nvSpPr>
        <p:spPr>
          <a:xfrm>
            <a:off x="4873680" y="134424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3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1">
            <a:extLst>
              <a:ext uri="{FF2B5EF4-FFF2-40B4-BE49-F238E27FC236}">
                <a16:creationId xmlns:a16="http://schemas.microsoft.com/office/drawing/2014/main" id="{D3C844C9-753F-E633-C7DD-6C67610011FE}"/>
              </a:ext>
            </a:extLst>
          </p:cNvPr>
          <p:cNvSpPr/>
          <p:nvPr/>
        </p:nvSpPr>
        <p:spPr>
          <a:xfrm>
            <a:off x="4873680" y="178308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2">
            <a:extLst>
              <a:ext uri="{FF2B5EF4-FFF2-40B4-BE49-F238E27FC236}">
                <a16:creationId xmlns:a16="http://schemas.microsoft.com/office/drawing/2014/main" id="{096D9017-FBA1-1604-E067-1A9511FB2683}"/>
              </a:ext>
            </a:extLst>
          </p:cNvPr>
          <p:cNvSpPr/>
          <p:nvPr/>
        </p:nvSpPr>
        <p:spPr>
          <a:xfrm>
            <a:off x="4873680" y="20847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3">
            <a:extLst>
              <a:ext uri="{FF2B5EF4-FFF2-40B4-BE49-F238E27FC236}">
                <a16:creationId xmlns:a16="http://schemas.microsoft.com/office/drawing/2014/main" id="{F524E590-7C41-914A-0F4D-5558D08379CF}"/>
              </a:ext>
            </a:extLst>
          </p:cNvPr>
          <p:cNvSpPr/>
          <p:nvPr/>
        </p:nvSpPr>
        <p:spPr>
          <a:xfrm>
            <a:off x="4873680" y="238644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4">
            <a:extLst>
              <a:ext uri="{FF2B5EF4-FFF2-40B4-BE49-F238E27FC236}">
                <a16:creationId xmlns:a16="http://schemas.microsoft.com/office/drawing/2014/main" id="{F7473EA4-9C1D-6A9E-FD23-48E62004FD2C}"/>
              </a:ext>
            </a:extLst>
          </p:cNvPr>
          <p:cNvSpPr/>
          <p:nvPr/>
        </p:nvSpPr>
        <p:spPr>
          <a:xfrm>
            <a:off x="4873680" y="268848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6">
            <a:extLst>
              <a:ext uri="{FF2B5EF4-FFF2-40B4-BE49-F238E27FC236}">
                <a16:creationId xmlns:a16="http://schemas.microsoft.com/office/drawing/2014/main" id="{459F9C9C-4BEE-1A6D-7401-2D308AC9CFD4}"/>
              </a:ext>
            </a:extLst>
          </p:cNvPr>
          <p:cNvSpPr/>
          <p:nvPr/>
        </p:nvSpPr>
        <p:spPr>
          <a:xfrm>
            <a:off x="621720" y="335592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3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17">
            <a:extLst>
              <a:ext uri="{FF2B5EF4-FFF2-40B4-BE49-F238E27FC236}">
                <a16:creationId xmlns:a16="http://schemas.microsoft.com/office/drawing/2014/main" id="{B0DDB535-F5E4-9C52-03D8-E967F072F919}"/>
              </a:ext>
            </a:extLst>
          </p:cNvPr>
          <p:cNvSpPr/>
          <p:nvPr/>
        </p:nvSpPr>
        <p:spPr>
          <a:xfrm>
            <a:off x="621720" y="37947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8">
            <a:extLst>
              <a:ext uri="{FF2B5EF4-FFF2-40B4-BE49-F238E27FC236}">
                <a16:creationId xmlns:a16="http://schemas.microsoft.com/office/drawing/2014/main" id="{6E8EF4B5-CE6D-FBF5-E977-95662689AF8E}"/>
              </a:ext>
            </a:extLst>
          </p:cNvPr>
          <p:cNvSpPr/>
          <p:nvPr/>
        </p:nvSpPr>
        <p:spPr>
          <a:xfrm>
            <a:off x="621720" y="409644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9">
            <a:extLst>
              <a:ext uri="{FF2B5EF4-FFF2-40B4-BE49-F238E27FC236}">
                <a16:creationId xmlns:a16="http://schemas.microsoft.com/office/drawing/2014/main" id="{AE6F4147-B24D-93A2-8687-B2DAF13065E2}"/>
              </a:ext>
            </a:extLst>
          </p:cNvPr>
          <p:cNvSpPr/>
          <p:nvPr/>
        </p:nvSpPr>
        <p:spPr>
          <a:xfrm>
            <a:off x="621720" y="439812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20">
            <a:extLst>
              <a:ext uri="{FF2B5EF4-FFF2-40B4-BE49-F238E27FC236}">
                <a16:creationId xmlns:a16="http://schemas.microsoft.com/office/drawing/2014/main" id="{B179E3B4-49F0-52B7-7465-BCDF924C848A}"/>
              </a:ext>
            </a:extLst>
          </p:cNvPr>
          <p:cNvSpPr/>
          <p:nvPr/>
        </p:nvSpPr>
        <p:spPr>
          <a:xfrm>
            <a:off x="621720" y="47001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21">
            <a:extLst>
              <a:ext uri="{FF2B5EF4-FFF2-40B4-BE49-F238E27FC236}">
                <a16:creationId xmlns:a16="http://schemas.microsoft.com/office/drawing/2014/main" id="{ECCA79F4-C5B7-FC93-8221-1C3C60FAA9F1}"/>
              </a:ext>
            </a:extLst>
          </p:cNvPr>
          <p:cNvSpPr/>
          <p:nvPr/>
        </p:nvSpPr>
        <p:spPr>
          <a:xfrm>
            <a:off x="252000" y="594900"/>
            <a:ext cx="8640000" cy="4320000"/>
          </a:xfrm>
          <a:prstGeom prst="roundRect">
            <a:avLst>
              <a:gd name="adj" fmla="val 6000"/>
            </a:avLst>
          </a:prstGeom>
          <a:blipFill>
            <a:blip r:embed="rId3"/>
            <a:stretch>
              <a:fillRect/>
            </a:stretch>
          </a:blipFill>
          <a:ln w="12700">
            <a:solidFill>
              <a:srgbClr val="065A82"/>
            </a:solidFill>
            <a:round/>
          </a:ln>
          <a:effectLst>
            <a:outerShdw blurRad="101520" dist="25455" dir="81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22">
            <a:extLst>
              <a:ext uri="{FF2B5EF4-FFF2-40B4-BE49-F238E27FC236}">
                <a16:creationId xmlns:a16="http://schemas.microsoft.com/office/drawing/2014/main" id="{58191902-A939-871C-0A61-A5B017FD55EC}"/>
              </a:ext>
            </a:extLst>
          </p:cNvPr>
          <p:cNvSpPr/>
          <p:nvPr/>
        </p:nvSpPr>
        <p:spPr>
          <a:xfrm>
            <a:off x="4873680" y="335592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3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23">
            <a:extLst>
              <a:ext uri="{FF2B5EF4-FFF2-40B4-BE49-F238E27FC236}">
                <a16:creationId xmlns:a16="http://schemas.microsoft.com/office/drawing/2014/main" id="{CF5FECFA-6926-12AE-D8FE-C2F2D86639B3}"/>
              </a:ext>
            </a:extLst>
          </p:cNvPr>
          <p:cNvSpPr/>
          <p:nvPr/>
        </p:nvSpPr>
        <p:spPr>
          <a:xfrm>
            <a:off x="4873680" y="37947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24">
            <a:extLst>
              <a:ext uri="{FF2B5EF4-FFF2-40B4-BE49-F238E27FC236}">
                <a16:creationId xmlns:a16="http://schemas.microsoft.com/office/drawing/2014/main" id="{9519026E-B472-63EE-9BCA-E1E4DA56B75F}"/>
              </a:ext>
            </a:extLst>
          </p:cNvPr>
          <p:cNvSpPr/>
          <p:nvPr/>
        </p:nvSpPr>
        <p:spPr>
          <a:xfrm>
            <a:off x="4873680" y="409644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25">
            <a:extLst>
              <a:ext uri="{FF2B5EF4-FFF2-40B4-BE49-F238E27FC236}">
                <a16:creationId xmlns:a16="http://schemas.microsoft.com/office/drawing/2014/main" id="{038A97ED-3C4C-35DE-D35A-021B8056CF65}"/>
              </a:ext>
            </a:extLst>
          </p:cNvPr>
          <p:cNvSpPr/>
          <p:nvPr/>
        </p:nvSpPr>
        <p:spPr>
          <a:xfrm>
            <a:off x="4873680" y="439812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26">
            <a:extLst>
              <a:ext uri="{FF2B5EF4-FFF2-40B4-BE49-F238E27FC236}">
                <a16:creationId xmlns:a16="http://schemas.microsoft.com/office/drawing/2014/main" id="{88964CF7-8884-3492-0618-D270081ED248}"/>
              </a:ext>
            </a:extLst>
          </p:cNvPr>
          <p:cNvSpPr/>
          <p:nvPr/>
        </p:nvSpPr>
        <p:spPr>
          <a:xfrm>
            <a:off x="4873680" y="47001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88762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0"/>
          <p:cNvSpPr/>
          <p:nvPr/>
        </p:nvSpPr>
        <p:spPr>
          <a:xfrm>
            <a:off x="457200" y="228600"/>
            <a:ext cx="2011320" cy="2739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"/>
          <p:cNvSpPr/>
          <p:nvPr/>
        </p:nvSpPr>
        <p:spPr>
          <a:xfrm>
            <a:off x="457200" y="22860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00" b="1" u="none" strike="noStrike" noProof="0" dirty="0">
                <a:solidFill>
                  <a:srgbClr val="FFFFFF"/>
                </a:solidFill>
                <a:effectLst/>
                <a:uFillTx/>
                <a:latin typeface="Calibri"/>
              </a:rPr>
              <a:t>07 — ANOMALIES &amp; INSIGHTS</a:t>
            </a:r>
            <a:endParaRPr lang="fr-FR" sz="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2"/>
          <p:cNvSpPr/>
          <p:nvPr/>
        </p:nvSpPr>
        <p:spPr>
          <a:xfrm>
            <a:off x="457200" y="5670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2200" b="1" u="none" strike="noStrike" noProof="0" dirty="0">
                <a:solidFill>
                  <a:srgbClr val="0C1D2D"/>
                </a:solidFill>
                <a:effectLst/>
                <a:uFillTx/>
                <a:latin typeface="Calibri"/>
              </a:rPr>
              <a:t>Détections Automatiques &amp; Recommandations</a:t>
            </a:r>
            <a:endParaRPr lang="fr-FR" sz="2200" b="0" u="none" strike="noStrike" noProof="0" dirty="0">
              <a:solidFill>
                <a:srgbClr val="0C1D2D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3"/>
          <p:cNvSpPr/>
          <p:nvPr/>
        </p:nvSpPr>
        <p:spPr>
          <a:xfrm>
            <a:off x="457200" y="1234440"/>
            <a:ext cx="4023000" cy="1645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4"/>
          <p:cNvSpPr/>
          <p:nvPr/>
        </p:nvSpPr>
        <p:spPr>
          <a:xfrm>
            <a:off x="457200" y="1234440"/>
            <a:ext cx="91080" cy="16455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5"/>
          <p:cNvSpPr/>
          <p:nvPr/>
        </p:nvSpPr>
        <p:spPr>
          <a:xfrm>
            <a:off x="958490" y="1356660"/>
            <a:ext cx="155575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u="none" strike="noStrike" noProof="0" dirty="0">
                <a:solidFill>
                  <a:srgbClr val="0C1D2D"/>
                </a:solidFill>
                <a:effectLst/>
                <a:uFillTx/>
                <a:latin typeface="Calibri"/>
              </a:rPr>
              <a:t>  Blocage du Pipeline</a:t>
            </a:r>
            <a:endParaRPr lang="fr-FR" sz="1200" b="0" u="none" strike="noStrike" noProof="0" dirty="0">
              <a:solidFill>
                <a:srgbClr val="0C1D2D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6"/>
          <p:cNvSpPr/>
          <p:nvPr/>
        </p:nvSpPr>
        <p:spPr>
          <a:xfrm>
            <a:off x="685800" y="1691640"/>
            <a:ext cx="36572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5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Nombre élevé d'opportunités bloquées en phase de négociation  76 en attente sur 93.</a:t>
            </a: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7"/>
          <p:cNvSpPr/>
          <p:nvPr/>
        </p:nvSpPr>
        <p:spPr>
          <a:xfrm>
            <a:off x="685800" y="2496240"/>
            <a:ext cx="3565800" cy="255600"/>
          </a:xfrm>
          <a:prstGeom prst="roundRect">
            <a:avLst>
              <a:gd name="adj" fmla="val 17857"/>
            </a:avLst>
          </a:prstGeom>
          <a:solidFill>
            <a:srgbClr val="EF4444">
              <a:alpha val="12000"/>
            </a:srgbClr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8"/>
          <p:cNvSpPr/>
          <p:nvPr/>
        </p:nvSpPr>
        <p:spPr>
          <a:xfrm>
            <a:off x="777240" y="2514600"/>
            <a:ext cx="34743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50" b="1" u="none" strike="noStrike" noProof="0" dirty="0">
                <a:solidFill>
                  <a:srgbClr val="EF4444"/>
                </a:solidFill>
                <a:effectLst/>
                <a:uFillTx/>
                <a:latin typeface="Calibri"/>
              </a:rPr>
              <a:t>💡 Renforcer le suivi commercial et relances</a:t>
            </a:r>
            <a:endParaRPr lang="fr-FR" sz="8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9"/>
          <p:cNvSpPr/>
          <p:nvPr/>
        </p:nvSpPr>
        <p:spPr>
          <a:xfrm>
            <a:off x="4709160" y="1234440"/>
            <a:ext cx="4023000" cy="1645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10"/>
          <p:cNvSpPr/>
          <p:nvPr/>
        </p:nvSpPr>
        <p:spPr>
          <a:xfrm>
            <a:off x="4709160" y="1234440"/>
            <a:ext cx="91080" cy="1645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1"/>
          <p:cNvSpPr/>
          <p:nvPr/>
        </p:nvSpPr>
        <p:spPr>
          <a:xfrm>
            <a:off x="5280660" y="1372320"/>
            <a:ext cx="2174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u="none" strike="noStrike" noProof="0" dirty="0">
                <a:solidFill>
                  <a:srgbClr val="0D1B4B"/>
                </a:solidFill>
                <a:effectLst/>
                <a:uFillTx/>
                <a:latin typeface="Calibri"/>
              </a:rPr>
              <a:t>  </a:t>
            </a:r>
            <a:r>
              <a:rPr lang="fr-FR" sz="1200" b="1" u="none" strike="noStrike" noProof="0" dirty="0">
                <a:solidFill>
                  <a:srgbClr val="0C1D2D"/>
                </a:solidFill>
                <a:effectLst/>
                <a:uFillTx/>
                <a:latin typeface="Calibri"/>
              </a:rPr>
              <a:t>Dépendance Client / Vendeur</a:t>
            </a:r>
            <a:endParaRPr lang="fr-FR" sz="1200" b="0" u="none" strike="noStrike" noProof="0" dirty="0">
              <a:solidFill>
                <a:srgbClr val="0C1D2D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2"/>
          <p:cNvSpPr/>
          <p:nvPr/>
        </p:nvSpPr>
        <p:spPr>
          <a:xfrm>
            <a:off x="4937760" y="1691640"/>
            <a:ext cx="36572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5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Concentration excessive du CA sur un nombre restreint de clients et de commerciaux.</a:t>
            </a: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13"/>
          <p:cNvSpPr/>
          <p:nvPr/>
        </p:nvSpPr>
        <p:spPr>
          <a:xfrm>
            <a:off x="4937760" y="2496240"/>
            <a:ext cx="3565800" cy="255600"/>
          </a:xfrm>
          <a:prstGeom prst="roundRect">
            <a:avLst>
              <a:gd name="adj" fmla="val 17857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14"/>
          <p:cNvSpPr/>
          <p:nvPr/>
        </p:nvSpPr>
        <p:spPr>
          <a:xfrm>
            <a:off x="5029200" y="2514600"/>
            <a:ext cx="34743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50" b="1" u="none" strike="noStrike" noProof="0" dirty="0">
                <a:solidFill>
                  <a:srgbClr val="F59E0B"/>
                </a:solidFill>
                <a:effectLst/>
                <a:uFillTx/>
                <a:latin typeface="Calibri"/>
              </a:rPr>
              <a:t>💡 Diversifier le portefeuille clients</a:t>
            </a:r>
            <a:endParaRPr lang="fr-FR" sz="8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15"/>
          <p:cNvSpPr/>
          <p:nvPr/>
        </p:nvSpPr>
        <p:spPr>
          <a:xfrm>
            <a:off x="457200" y="3063240"/>
            <a:ext cx="4023000" cy="1645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16"/>
          <p:cNvSpPr/>
          <p:nvPr/>
        </p:nvSpPr>
        <p:spPr>
          <a:xfrm>
            <a:off x="457200" y="3063240"/>
            <a:ext cx="91080" cy="16455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7"/>
          <p:cNvSpPr/>
          <p:nvPr/>
        </p:nvSpPr>
        <p:spPr>
          <a:xfrm>
            <a:off x="1022350" y="3172320"/>
            <a:ext cx="1917700" cy="301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u="none" strike="noStrike" noProof="0" dirty="0">
                <a:solidFill>
                  <a:srgbClr val="0D1B4B"/>
                </a:solidFill>
                <a:effectLst/>
                <a:uFillTx/>
                <a:latin typeface="Calibri"/>
              </a:rPr>
              <a:t>  </a:t>
            </a:r>
            <a:r>
              <a:rPr lang="fr-FR" sz="1200" b="1" u="none" strike="noStrike" noProof="0" dirty="0">
                <a:solidFill>
                  <a:srgbClr val="0C1D2D"/>
                </a:solidFill>
                <a:effectLst/>
                <a:uFillTx/>
                <a:latin typeface="Calibri"/>
              </a:rPr>
              <a:t>Faible Taux de Conversion</a:t>
            </a:r>
            <a:endParaRPr lang="fr-FR" sz="1200" b="0" u="none" strike="noStrike" noProof="0" dirty="0">
              <a:solidFill>
                <a:srgbClr val="0C1D2D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18"/>
          <p:cNvSpPr/>
          <p:nvPr/>
        </p:nvSpPr>
        <p:spPr>
          <a:xfrm>
            <a:off x="685800" y="3520440"/>
            <a:ext cx="36572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5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Taux d'opportunités gagnées à 18%  bien en dessous des standards sectoriels.</a:t>
            </a: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19"/>
          <p:cNvSpPr/>
          <p:nvPr/>
        </p:nvSpPr>
        <p:spPr>
          <a:xfrm>
            <a:off x="685800" y="4325040"/>
            <a:ext cx="3565800" cy="255600"/>
          </a:xfrm>
          <a:prstGeom prst="roundRect">
            <a:avLst>
              <a:gd name="adj" fmla="val 17857"/>
            </a:avLst>
          </a:prstGeom>
          <a:solidFill>
            <a:srgbClr val="EF4444">
              <a:alpha val="12000"/>
            </a:srgbClr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20"/>
          <p:cNvSpPr/>
          <p:nvPr/>
        </p:nvSpPr>
        <p:spPr>
          <a:xfrm>
            <a:off x="777240" y="4343400"/>
            <a:ext cx="34743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50" b="1" u="none" strike="noStrike" noProof="0" dirty="0">
                <a:solidFill>
                  <a:srgbClr val="EF4444"/>
                </a:solidFill>
                <a:effectLst/>
                <a:uFillTx/>
                <a:latin typeface="Calibri"/>
              </a:rPr>
              <a:t>💡 Formation équipe commerciale &amp; révision stratégie</a:t>
            </a:r>
            <a:endParaRPr lang="fr-FR" sz="8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21"/>
          <p:cNvSpPr/>
          <p:nvPr/>
        </p:nvSpPr>
        <p:spPr>
          <a:xfrm>
            <a:off x="4709160" y="3063240"/>
            <a:ext cx="4023000" cy="1645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22"/>
          <p:cNvSpPr/>
          <p:nvPr/>
        </p:nvSpPr>
        <p:spPr>
          <a:xfrm>
            <a:off x="4709160" y="3063240"/>
            <a:ext cx="91080" cy="1645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23"/>
          <p:cNvSpPr/>
          <p:nvPr/>
        </p:nvSpPr>
        <p:spPr>
          <a:xfrm>
            <a:off x="5280660" y="3177360"/>
            <a:ext cx="138049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u="none" strike="noStrike" noProof="0" dirty="0">
                <a:solidFill>
                  <a:srgbClr val="0D1B4B"/>
                </a:solidFill>
                <a:effectLst/>
                <a:uFillTx/>
                <a:latin typeface="Calibri"/>
              </a:rPr>
              <a:t>  </a:t>
            </a:r>
            <a:r>
              <a:rPr lang="fr-FR" sz="1200" b="1" u="none" strike="noStrike" noProof="0" dirty="0">
                <a:solidFill>
                  <a:srgbClr val="0C1D2D"/>
                </a:solidFill>
                <a:effectLst/>
                <a:uFillTx/>
                <a:latin typeface="Calibri"/>
              </a:rPr>
              <a:t>Marge Négative</a:t>
            </a:r>
            <a:endParaRPr lang="fr-FR" sz="1200" b="0" u="none" strike="noStrike" noProof="0" dirty="0">
              <a:solidFill>
                <a:srgbClr val="0C1D2D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24"/>
          <p:cNvSpPr/>
          <p:nvPr/>
        </p:nvSpPr>
        <p:spPr>
          <a:xfrm>
            <a:off x="4937760" y="3520440"/>
            <a:ext cx="36572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5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Dépenses (2,72M) supérieures aux revenus (1,37M)  marge brute de -99%. Phase de démarrage.</a:t>
            </a: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25"/>
          <p:cNvSpPr/>
          <p:nvPr/>
        </p:nvSpPr>
        <p:spPr>
          <a:xfrm>
            <a:off x="4937760" y="4325040"/>
            <a:ext cx="3565800" cy="255600"/>
          </a:xfrm>
          <a:prstGeom prst="roundRect">
            <a:avLst>
              <a:gd name="adj" fmla="val 17857"/>
            </a:avLst>
          </a:prstGeom>
          <a:solidFill>
            <a:srgbClr val="1C7293">
              <a:alpha val="12000"/>
            </a:srgbClr>
          </a:solidFill>
          <a:ln w="12700">
            <a:solidFill>
              <a:srgbClr val="1C729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26"/>
          <p:cNvSpPr/>
          <p:nvPr/>
        </p:nvSpPr>
        <p:spPr>
          <a:xfrm>
            <a:off x="5029200" y="4343400"/>
            <a:ext cx="34743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50" b="1" u="none" strike="noStrike" noProof="0" dirty="0">
                <a:solidFill>
                  <a:srgbClr val="1C7293"/>
                </a:solidFill>
                <a:effectLst/>
                <a:uFillTx/>
                <a:latin typeface="Calibri"/>
              </a:rPr>
              <a:t>💡 Optimiser les coûts structurels sur le moyen terme</a:t>
            </a:r>
            <a:endParaRPr lang="fr-FR" sz="8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40597AF-1174-DF87-1D7F-81A4565D2A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3129840"/>
            <a:ext cx="360000" cy="3600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DBAEFCF1-427A-C48E-7F0B-B25182212A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1645" y="3094360"/>
            <a:ext cx="485680" cy="48568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4601FA0-23F4-79D5-18EB-BAAC0A6F05F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760" y="1371960"/>
            <a:ext cx="360000" cy="36000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B7199559-5CAB-F402-1D03-1FB94879E21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50" y="1331640"/>
            <a:ext cx="360000" cy="36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Shape 0"/>
          <p:cNvSpPr/>
          <p:nvPr/>
        </p:nvSpPr>
        <p:spPr>
          <a:xfrm>
            <a:off x="457200" y="228600"/>
            <a:ext cx="2011320" cy="2739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1"/>
          <p:cNvSpPr/>
          <p:nvPr/>
        </p:nvSpPr>
        <p:spPr>
          <a:xfrm>
            <a:off x="457200" y="22860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800" b="1" u="none" strike="noStrike" noProof="0" dirty="0">
                <a:solidFill>
                  <a:srgbClr val="FFFFFF"/>
                </a:solidFill>
                <a:effectLst/>
                <a:uFillTx/>
                <a:latin typeface="Calibri"/>
              </a:rPr>
              <a:t>08 — CONCLUSION &amp; PERSPECTIVES</a:t>
            </a:r>
            <a:endParaRPr lang="fr-FR" sz="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2"/>
          <p:cNvSpPr/>
          <p:nvPr/>
        </p:nvSpPr>
        <p:spPr>
          <a:xfrm>
            <a:off x="457200" y="5670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2400" b="1" u="none" strike="noStrike" noProof="0" dirty="0">
                <a:solidFill>
                  <a:srgbClr val="0D1B4B"/>
                </a:solidFill>
                <a:effectLst/>
                <a:uFillTx/>
                <a:latin typeface="Calibri"/>
              </a:rPr>
              <a:t>Synthèse &amp; Ouvertures</a:t>
            </a:r>
            <a:endParaRPr lang="fr-FR" sz="24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3"/>
          <p:cNvSpPr/>
          <p:nvPr/>
        </p:nvSpPr>
        <p:spPr>
          <a:xfrm>
            <a:off x="457200" y="1207080"/>
            <a:ext cx="5211720" cy="2285640"/>
          </a:xfrm>
          <a:prstGeom prst="roundRect">
            <a:avLst>
              <a:gd name="adj" fmla="val 4800"/>
            </a:avLst>
          </a:prstGeom>
          <a:solidFill>
            <a:srgbClr val="0C1D2D"/>
          </a:solidFill>
          <a:ln w="12700">
            <a:solidFill>
              <a:srgbClr val="0D1B4B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4"/>
          <p:cNvSpPr/>
          <p:nvPr/>
        </p:nvSpPr>
        <p:spPr>
          <a:xfrm>
            <a:off x="594360" y="129852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1" u="none" strike="noStrike" noProof="0" dirty="0">
                <a:solidFill>
                  <a:srgbClr val="02C39A"/>
                </a:solidFill>
                <a:effectLst/>
                <a:uFillTx/>
                <a:latin typeface="Calibri"/>
              </a:rPr>
              <a:t>Ce qui a été accompli</a:t>
            </a:r>
            <a:endParaRPr lang="fr-FR" sz="13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5"/>
          <p:cNvSpPr/>
          <p:nvPr/>
        </p:nvSpPr>
        <p:spPr>
          <a:xfrm>
            <a:off x="594360" y="1719000"/>
            <a:ext cx="48459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1" u="none" strike="noStrike" noProof="0" dirty="0">
                <a:solidFill>
                  <a:srgbClr val="02C39A"/>
                </a:solidFill>
                <a:effectLst/>
                <a:uFillTx/>
                <a:latin typeface="Calibri"/>
              </a:rPr>
              <a:t>✓ </a:t>
            </a:r>
            <a:r>
              <a:rPr lang="fr-FR" sz="1000" b="0" u="none" strike="noStrike" noProof="0" dirty="0">
                <a:solidFill>
                  <a:srgbClr val="CBD5E0"/>
                </a:solidFill>
                <a:effectLst/>
                <a:uFillTx/>
                <a:latin typeface="Calibri"/>
              </a:rPr>
              <a:t>Pipeline analytique complet opérationnel (ETL → MongoDB → KPI → Power BI)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6"/>
          <p:cNvSpPr/>
          <p:nvPr/>
        </p:nvSpPr>
        <p:spPr>
          <a:xfrm>
            <a:off x="594360" y="2103120"/>
            <a:ext cx="48459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1" u="none" strike="noStrike" noProof="0" dirty="0">
                <a:solidFill>
                  <a:srgbClr val="02C39A"/>
                </a:solidFill>
                <a:effectLst/>
                <a:uFillTx/>
                <a:latin typeface="Calibri"/>
              </a:rPr>
              <a:t>✓ </a:t>
            </a:r>
            <a:r>
              <a:rPr lang="fr-FR" sz="1000" b="0" u="none" strike="noStrike" noProof="0" dirty="0">
                <a:solidFill>
                  <a:srgbClr val="CBD5E0"/>
                </a:solidFill>
                <a:effectLst/>
                <a:uFillTx/>
                <a:latin typeface="Calibri"/>
              </a:rPr>
              <a:t>4 Dashboard interactifs offrant une vision consolidée des performances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7"/>
          <p:cNvSpPr/>
          <p:nvPr/>
        </p:nvSpPr>
        <p:spPr>
          <a:xfrm>
            <a:off x="594360" y="2487240"/>
            <a:ext cx="48459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1" u="none" strike="noStrike" noProof="0" dirty="0">
                <a:solidFill>
                  <a:srgbClr val="02C39A"/>
                </a:solidFill>
                <a:effectLst/>
                <a:uFillTx/>
                <a:latin typeface="Calibri"/>
              </a:rPr>
              <a:t>✓ </a:t>
            </a:r>
            <a:r>
              <a:rPr lang="fr-FR" sz="1000" b="0" u="none" strike="noStrike" noProof="0" dirty="0">
                <a:solidFill>
                  <a:srgbClr val="CBD5E0"/>
                </a:solidFill>
                <a:effectLst/>
                <a:uFillTx/>
                <a:latin typeface="Calibri"/>
              </a:rPr>
              <a:t>Détection automatique d'anomalies et génération d'insights actionnables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8"/>
          <p:cNvSpPr/>
          <p:nvPr/>
        </p:nvSpPr>
        <p:spPr>
          <a:xfrm>
            <a:off x="594360" y="2871360"/>
            <a:ext cx="48459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1" u="none" strike="noStrike" noProof="0" dirty="0">
                <a:solidFill>
                  <a:srgbClr val="02C39A"/>
                </a:solidFill>
                <a:effectLst/>
                <a:uFillTx/>
                <a:latin typeface="Calibri"/>
              </a:rPr>
              <a:t>✓ </a:t>
            </a:r>
            <a:r>
              <a:rPr lang="fr-FR" sz="1000" b="0" u="none" strike="noStrike" noProof="0" dirty="0">
                <a:solidFill>
                  <a:srgbClr val="CBD5E0"/>
                </a:solidFill>
                <a:effectLst/>
                <a:uFillTx/>
                <a:latin typeface="Calibri"/>
              </a:rPr>
              <a:t>Base solide pour le pilotage stratégique de ZALYA Ltd par les données</a:t>
            </a:r>
            <a:endParaRPr lang="fr-FR" sz="10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9"/>
          <p:cNvSpPr/>
          <p:nvPr/>
        </p:nvSpPr>
        <p:spPr>
          <a:xfrm>
            <a:off x="5852160" y="1207080"/>
            <a:ext cx="2834280" cy="228564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10"/>
          <p:cNvSpPr/>
          <p:nvPr/>
        </p:nvSpPr>
        <p:spPr>
          <a:xfrm>
            <a:off x="5852160" y="1207080"/>
            <a:ext cx="2834280" cy="36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11"/>
          <p:cNvSpPr/>
          <p:nvPr/>
        </p:nvSpPr>
        <p:spPr>
          <a:xfrm>
            <a:off x="5989320" y="129852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200" b="1" u="none" strike="noStrike" noProof="0" dirty="0">
                <a:solidFill>
                  <a:srgbClr val="0D1B4B"/>
                </a:solidFill>
                <a:effectLst/>
                <a:uFillTx/>
                <a:latin typeface="Calibri"/>
              </a:rPr>
              <a:t>Limites</a:t>
            </a:r>
            <a:endParaRPr lang="fr-FR" sz="12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12"/>
          <p:cNvSpPr/>
          <p:nvPr/>
        </p:nvSpPr>
        <p:spPr>
          <a:xfrm>
            <a:off x="5989320" y="1691640"/>
            <a:ext cx="2559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5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— Faible volume de données (entreprise jeune)</a:t>
            </a: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3"/>
          <p:cNvSpPr/>
          <p:nvPr/>
        </p:nvSpPr>
        <p:spPr>
          <a:xfrm>
            <a:off x="5989320" y="2194560"/>
            <a:ext cx="2559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5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— 1 mois  itérations insuffisantes</a:t>
            </a: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4"/>
          <p:cNvSpPr/>
          <p:nvPr/>
        </p:nvSpPr>
        <p:spPr>
          <a:xfrm>
            <a:off x="5989320" y="2697480"/>
            <a:ext cx="25599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5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— Modélisation prédictive limitée</a:t>
            </a:r>
            <a:endParaRPr lang="fr-FR" sz="95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5"/>
          <p:cNvSpPr/>
          <p:nvPr/>
        </p:nvSpPr>
        <p:spPr>
          <a:xfrm>
            <a:off x="457200" y="365760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1" u="none" strike="noStrike" noProof="0" dirty="0">
                <a:solidFill>
                  <a:srgbClr val="0C1D2D"/>
                </a:solidFill>
                <a:effectLst/>
                <a:uFillTx/>
                <a:latin typeface="Calibri"/>
              </a:rPr>
              <a:t>Perspectives d'évolution</a:t>
            </a:r>
            <a:endParaRPr lang="fr-FR" sz="1300" b="0" u="none" strike="noStrike" noProof="0" dirty="0">
              <a:solidFill>
                <a:srgbClr val="0C1D2D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16"/>
          <p:cNvSpPr/>
          <p:nvPr/>
        </p:nvSpPr>
        <p:spPr>
          <a:xfrm>
            <a:off x="457200" y="4069080"/>
            <a:ext cx="2651400" cy="914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17"/>
          <p:cNvSpPr/>
          <p:nvPr/>
        </p:nvSpPr>
        <p:spPr>
          <a:xfrm>
            <a:off x="457200" y="4069080"/>
            <a:ext cx="2651400" cy="5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18"/>
          <p:cNvSpPr/>
          <p:nvPr/>
        </p:nvSpPr>
        <p:spPr>
          <a:xfrm>
            <a:off x="838130" y="4179380"/>
            <a:ext cx="16936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0D1B4B"/>
                </a:solidFill>
                <a:effectLst/>
                <a:uFillTx/>
                <a:latin typeface="Calibri"/>
              </a:rPr>
              <a:t>  </a:t>
            </a:r>
            <a:r>
              <a:rPr lang="fr-FR" sz="1000" b="1" u="none" strike="noStrike" noProof="0" dirty="0">
                <a:solidFill>
                  <a:srgbClr val="0C1D2D"/>
                </a:solidFill>
                <a:effectLst/>
                <a:uFillTx/>
                <a:latin typeface="Calibri"/>
              </a:rPr>
              <a:t>Alimentation en temps réel</a:t>
            </a:r>
            <a:endParaRPr lang="fr-FR" sz="1000" b="0" u="none" strike="noStrike" noProof="0" dirty="0">
              <a:solidFill>
                <a:srgbClr val="0C1D2D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9"/>
          <p:cNvSpPr/>
          <p:nvPr/>
        </p:nvSpPr>
        <p:spPr>
          <a:xfrm>
            <a:off x="567000" y="448056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Connecteurs automatiques depuis les systèmes opérationnels</a:t>
            </a:r>
            <a:endParaRPr lang="fr-FR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20"/>
          <p:cNvSpPr/>
          <p:nvPr/>
        </p:nvSpPr>
        <p:spPr>
          <a:xfrm>
            <a:off x="3291840" y="4069080"/>
            <a:ext cx="2651400" cy="914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21"/>
          <p:cNvSpPr/>
          <p:nvPr/>
        </p:nvSpPr>
        <p:spPr>
          <a:xfrm>
            <a:off x="3291840" y="4069080"/>
            <a:ext cx="2651400" cy="5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22"/>
          <p:cNvSpPr/>
          <p:nvPr/>
        </p:nvSpPr>
        <p:spPr>
          <a:xfrm>
            <a:off x="3816268" y="4179380"/>
            <a:ext cx="125291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0D1B4B"/>
                </a:solidFill>
                <a:effectLst/>
                <a:uFillTx/>
                <a:latin typeface="Calibri"/>
              </a:rPr>
              <a:t> </a:t>
            </a:r>
            <a:r>
              <a:rPr lang="fr-FR" sz="1000" b="1" u="none" strike="noStrike" noProof="0" dirty="0">
                <a:solidFill>
                  <a:srgbClr val="0C1D2D"/>
                </a:solidFill>
                <a:effectLst/>
                <a:uFillTx/>
                <a:latin typeface="Calibri"/>
              </a:rPr>
              <a:t>Machine Learning</a:t>
            </a:r>
            <a:endParaRPr lang="fr-FR" sz="1000" b="0" u="none" strike="noStrike" noProof="0" dirty="0">
              <a:solidFill>
                <a:srgbClr val="0C1D2D"/>
              </a:solidFill>
              <a:effectLst/>
              <a:uFillTx/>
              <a:latin typeface="Arial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42C5775-E32B-A691-6939-2693BF7F89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3500" y="4166100"/>
            <a:ext cx="577728" cy="360000"/>
          </a:xfrm>
          <a:prstGeom prst="rect">
            <a:avLst/>
          </a:prstGeom>
        </p:spPr>
      </p:pic>
      <p:sp>
        <p:nvSpPr>
          <p:cNvPr id="364" name="Text 23"/>
          <p:cNvSpPr/>
          <p:nvPr/>
        </p:nvSpPr>
        <p:spPr>
          <a:xfrm>
            <a:off x="3401640" y="448056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Prévision des ventes et détection précoce des risques</a:t>
            </a:r>
            <a:endParaRPr lang="fr-FR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24"/>
          <p:cNvSpPr/>
          <p:nvPr/>
        </p:nvSpPr>
        <p:spPr>
          <a:xfrm>
            <a:off x="6126480" y="4069080"/>
            <a:ext cx="2651400" cy="914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25"/>
          <p:cNvSpPr/>
          <p:nvPr/>
        </p:nvSpPr>
        <p:spPr>
          <a:xfrm>
            <a:off x="6126480" y="4069080"/>
            <a:ext cx="2651400" cy="5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26"/>
          <p:cNvSpPr/>
          <p:nvPr/>
        </p:nvSpPr>
        <p:spPr>
          <a:xfrm>
            <a:off x="6528380" y="4173030"/>
            <a:ext cx="16377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0D1B4B"/>
                </a:solidFill>
                <a:effectLst/>
                <a:uFillTx/>
                <a:latin typeface="Calibri"/>
              </a:rPr>
              <a:t>  </a:t>
            </a:r>
            <a:r>
              <a:rPr lang="fr-FR" sz="1000" b="1" u="none" strike="noStrike" noProof="0" dirty="0">
                <a:solidFill>
                  <a:srgbClr val="0C1D2D"/>
                </a:solidFill>
                <a:effectLst/>
                <a:uFillTx/>
                <a:latin typeface="Calibri"/>
              </a:rPr>
              <a:t>Recommandations auto</a:t>
            </a:r>
            <a:endParaRPr lang="fr-FR" sz="1000" b="0" u="none" strike="noStrike" noProof="0" dirty="0">
              <a:solidFill>
                <a:srgbClr val="0C1D2D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27"/>
          <p:cNvSpPr/>
          <p:nvPr/>
        </p:nvSpPr>
        <p:spPr>
          <a:xfrm>
            <a:off x="6236280" y="448056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90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Module générant des actions depuis les anomalies détectées</a:t>
            </a:r>
            <a:endParaRPr lang="fr-FR" sz="9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06E3F2A-3B05-CB17-B702-6D4F72165DD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20" y="4155840"/>
            <a:ext cx="360000" cy="3600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1A6E84E-00CF-C45F-6850-57DE61CA72F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280" y="4160370"/>
            <a:ext cx="360000" cy="36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Shape 0"/>
          <p:cNvSpPr/>
          <p:nvPr/>
        </p:nvSpPr>
        <p:spPr>
          <a:xfrm>
            <a:off x="-1097280" y="3200400"/>
            <a:ext cx="3657240" cy="3657240"/>
          </a:xfr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1"/>
          <p:cNvSpPr/>
          <p:nvPr/>
        </p:nvSpPr>
        <p:spPr>
          <a:xfrm>
            <a:off x="7772400" y="-914400"/>
            <a:ext cx="3200040" cy="3200040"/>
          </a:xfr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2"/>
          <p:cNvSpPr/>
          <p:nvPr/>
        </p:nvSpPr>
        <p:spPr>
          <a:xfrm>
            <a:off x="0" y="0"/>
            <a:ext cx="456840" cy="5143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3"/>
          <p:cNvSpPr/>
          <p:nvPr/>
        </p:nvSpPr>
        <p:spPr>
          <a:xfrm>
            <a:off x="731520" y="914400"/>
            <a:ext cx="7863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3200" b="1" u="none" strike="noStrike" noProof="0" dirty="0">
                <a:solidFill>
                  <a:srgbClr val="FFFFFF"/>
                </a:solidFill>
                <a:effectLst/>
                <a:uFillTx/>
                <a:latin typeface="Calibri"/>
              </a:rPr>
              <a:t>Merci pour </a:t>
            </a:r>
            <a:r>
              <a:rPr lang="fr-FR" sz="3200" b="1" u="none" strike="noStrike" noProof="0" dirty="0">
                <a:solidFill>
                  <a:srgbClr val="FFFFFF"/>
                </a:solidFill>
                <a:uFillTx/>
                <a:latin typeface="Calibri"/>
              </a:rPr>
              <a:t>votre </a:t>
            </a:r>
            <a:r>
              <a:rPr lang="fr-FR" sz="3200" b="1" u="none" strike="noStrike" noProof="0" dirty="0">
                <a:solidFill>
                  <a:srgbClr val="FFFFFF"/>
                </a:solidFill>
                <a:effectLst/>
                <a:uFillTx/>
                <a:latin typeface="Calibri"/>
              </a:rPr>
              <a:t>attention</a:t>
            </a:r>
            <a:endParaRPr lang="fr-FR" sz="32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4"/>
          <p:cNvSpPr/>
          <p:nvPr/>
        </p:nvSpPr>
        <p:spPr>
          <a:xfrm>
            <a:off x="3200400" y="1874520"/>
            <a:ext cx="2742840" cy="45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5"/>
          <p:cNvSpPr/>
          <p:nvPr/>
        </p:nvSpPr>
        <p:spPr>
          <a:xfrm>
            <a:off x="731520" y="205740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800" b="0" i="1" u="none" strike="noStrike" noProof="0" dirty="0">
                <a:solidFill>
                  <a:srgbClr val="02C39A"/>
                </a:solidFill>
                <a:effectLst/>
                <a:uFillTx/>
                <a:latin typeface="Calibri"/>
              </a:rPr>
              <a:t>Place aux questions</a:t>
            </a:r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6"/>
          <p:cNvSpPr/>
          <p:nvPr/>
        </p:nvSpPr>
        <p:spPr>
          <a:xfrm>
            <a:off x="731520" y="283464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300" b="1" u="none" strike="noStrike" noProof="0" dirty="0">
                <a:solidFill>
                  <a:srgbClr val="FFFFFF"/>
                </a:solidFill>
                <a:effectLst/>
                <a:uFillTx/>
                <a:latin typeface="Calibri"/>
              </a:rPr>
              <a:t>Ben Fidrich MANGUEMBI  </a:t>
            </a:r>
            <a:r>
              <a:rPr lang="fr-FR" sz="1200" b="0" u="none" strike="noStrike" noProof="0" dirty="0">
                <a:solidFill>
                  <a:srgbClr val="CBD5E0"/>
                </a:solidFill>
                <a:effectLst/>
                <a:uFillTx/>
                <a:latin typeface="Calibri"/>
              </a:rPr>
              <a:t>·  Licence Big Data &amp; Analyse des Données</a:t>
            </a:r>
            <a:endParaRPr lang="fr-FR" sz="12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7"/>
          <p:cNvSpPr/>
          <p:nvPr/>
        </p:nvSpPr>
        <p:spPr>
          <a:xfrm>
            <a:off x="731520" y="324612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0" u="none" strike="noStrike" noProof="0" dirty="0">
                <a:solidFill>
                  <a:srgbClr val="64748B"/>
                </a:solidFill>
                <a:effectLst/>
                <a:uFillTx/>
                <a:latin typeface="Calibri"/>
              </a:rPr>
              <a:t>ZALYA Limited  ·  Pointe-Noire, République du Congo  ·  Mai–Juin 2026</a:t>
            </a:r>
            <a:endParaRPr lang="fr-FR" sz="105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8"/>
          <p:cNvSpPr/>
          <p:nvPr/>
        </p:nvSpPr>
        <p:spPr>
          <a:xfrm>
            <a:off x="2286000" y="3840480"/>
            <a:ext cx="4571640" cy="776880"/>
          </a:xfrm>
          <a:prstGeom prst="roundRect">
            <a:avLst>
              <a:gd name="adj" fmla="val 14118"/>
            </a:avLst>
          </a:prstGeom>
          <a:solidFill>
            <a:srgbClr val="0C1D2D"/>
          </a:solidFill>
          <a:ln w="12700">
            <a:solidFill>
              <a:srgbClr val="0D1B4B"/>
            </a:solidFill>
            <a:round/>
          </a:ln>
          <a:effectLst>
            <a:outerShdw blurRad="127080" dist="37674" dir="8100000" algn="bl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9"/>
          <p:cNvSpPr/>
          <p:nvPr/>
        </p:nvSpPr>
        <p:spPr>
          <a:xfrm>
            <a:off x="2286000" y="3840480"/>
            <a:ext cx="4571640" cy="45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fr-FR" sz="18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10"/>
          <p:cNvSpPr/>
          <p:nvPr/>
        </p:nvSpPr>
        <p:spPr>
          <a:xfrm>
            <a:off x="2697120" y="3913920"/>
            <a:ext cx="141859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1" u="none" strike="noStrike" noProof="0" dirty="0">
                <a:solidFill>
                  <a:srgbClr val="02C39A"/>
                </a:solidFill>
                <a:effectLst/>
                <a:uFillTx/>
                <a:latin typeface="Calibri"/>
              </a:rPr>
              <a:t>  </a:t>
            </a:r>
            <a:r>
              <a:rPr lang="fr-FR" sz="1000" b="1" u="none" strike="noStrike" noProof="0" dirty="0">
                <a:solidFill>
                  <a:srgbClr val="028090"/>
                </a:solidFill>
                <a:effectLst/>
                <a:uFillTx/>
                <a:latin typeface="Calibri"/>
              </a:rPr>
              <a:t>Code source du projet</a:t>
            </a:r>
            <a:endParaRPr lang="fr-FR" sz="1000" b="0" u="none" strike="noStrike" noProof="0" dirty="0">
              <a:solidFill>
                <a:srgbClr val="02809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11"/>
          <p:cNvSpPr/>
          <p:nvPr/>
        </p:nvSpPr>
        <p:spPr>
          <a:xfrm>
            <a:off x="2423160" y="416952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00" b="0" u="none" strike="noStrike" noProof="0" dirty="0">
                <a:solidFill>
                  <a:srgbClr val="CBD5E0"/>
                </a:solidFill>
                <a:effectLst/>
                <a:uFillTx/>
                <a:latin typeface="Calibri"/>
                <a:hlinkClick r:id="rId3"/>
              </a:rPr>
              <a:t>github.com/benfidrich/Optimisation-CA_zalya</a:t>
            </a:r>
            <a:endParaRPr lang="fr-FR" sz="1000" b="0" u="none" strike="noStrike" noProof="0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93F1EB9-7F8F-2448-7502-12F4FABE066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630" y="3868920"/>
            <a:ext cx="360000" cy="36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287</TotalTime>
  <Words>1120</Words>
  <Application>Microsoft Office PowerPoint</Application>
  <PresentationFormat>Affichage à l'écran (16:9)</PresentationFormat>
  <Paragraphs>245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2" baseType="lpstr">
      <vt:lpstr>Arial</vt:lpstr>
      <vt:lpstr>Calibri</vt:lpstr>
      <vt:lpstr>Symbol</vt:lpstr>
      <vt:lpstr>Times New Roman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Optimisation du Chiffre d'Affaires par Analyse des Ventes – ZALYA Ltd</dc:title>
  <dc:subject>PptxGenJS Presentation</dc:subject>
  <dc:creator>Ben Fridrich MANGUEMBI</dc:creator>
  <dc:description/>
  <cp:lastModifiedBy>Ben Fidrich MANGUEMBI</cp:lastModifiedBy>
  <cp:revision>12</cp:revision>
  <dcterms:created xsi:type="dcterms:W3CDTF">2026-06-04T09:39:40Z</dcterms:created>
  <dcterms:modified xsi:type="dcterms:W3CDTF">2026-06-04T14:42:38Z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